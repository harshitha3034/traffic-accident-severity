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
  </p:notesMasterIdLst>
  <p:sldIdLst>
    <p:sldId id="347" r:id="rId3"/>
    <p:sldId id="257" r:id="rId4"/>
    <p:sldId id="345" r:id="rId5"/>
    <p:sldId id="348" r:id="rId6"/>
    <p:sldId id="338" r:id="rId7"/>
    <p:sldId id="349" r:id="rId8"/>
    <p:sldId id="267" r:id="rId9"/>
    <p:sldId id="351" r:id="rId11"/>
    <p:sldId id="352" r:id="rId12"/>
    <p:sldId id="332" r:id="rId13"/>
    <p:sldId id="354" r:id="rId14"/>
    <p:sldId id="329" r:id="rId15"/>
    <p:sldId id="357" r:id="rId16"/>
    <p:sldId id="344" r:id="rId17"/>
    <p:sldId id="358" r:id="rId18"/>
    <p:sldId id="362" r:id="rId19"/>
    <p:sldId id="361" r:id="rId20"/>
    <p:sldId id="363" r:id="rId21"/>
    <p:sldId id="359" r:id="rId22"/>
    <p:sldId id="360" r:id="rId23"/>
    <p:sldId id="373" r:id="rId24"/>
    <p:sldId id="350" r:id="rId25"/>
    <p:sldId id="339" r:id="rId26"/>
    <p:sldId id="364" r:id="rId27"/>
    <p:sldId id="355" r:id="rId28"/>
    <p:sldId id="356" r:id="rId29"/>
    <p:sldId id="323" r:id="rId30"/>
  </p:sldIdLst>
  <p:sldSz cx="12192000" cy="6858000"/>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9978"/>
    <p:restoredTop sz="81781"/>
  </p:normalViewPr>
  <p:slideViewPr>
    <p:cSldViewPr snapToGrid="0" showGuides="1">
      <p:cViewPr varScale="1">
        <p:scale>
          <a:sx n="67" d="100"/>
          <a:sy n="67" d="100"/>
        </p:scale>
        <p:origin x="1066" y="62"/>
      </p:cViewPr>
      <p:guideLst>
        <p:guide orient="horz" pos="2160"/>
        <p:guide pos="384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9B9DDAE-D643-4A5F-A4D7-889FBBE70873}" type="datetimeFigureOut">
              <a:rPr kumimoji="0" lang="en-IN" sz="1200" b="0" i="0" u="none" strike="noStrike" kern="1200" cap="none" spc="0" normalizeH="0" baseline="0" noProof="0">
                <a:ln>
                  <a:noFill/>
                </a:ln>
                <a:solidFill>
                  <a:schemeClr val="tx1"/>
                </a:solidFill>
                <a:effectLst/>
                <a:uLnTx/>
                <a:uFillTx/>
                <a:latin typeface="+mn-lt"/>
                <a:ea typeface="+mn-ea"/>
                <a:cs typeface="+mn-cs"/>
              </a:rPr>
            </a:fld>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base" latinLnBrk="0" hangingPunct="1">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eaLnBrk="1" hangingPunct="1"/>
            <a:fld id="{9A0DB2DC-4C9A-4742-B13C-FB6460FD3503}" type="slidenum">
              <a:rPr lang="en-IN" altLang="en-US" sz="1200" dirty="0">
                <a:latin typeface="Calibri" panose="020F0502020204030204" pitchFamily="34" charset="0"/>
              </a:rPr>
            </a:fld>
            <a:endParaRPr lang="en-IN" alt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Slide Image Placeholder 1"/>
          <p:cNvSpPr>
            <a:spLocks noGrp="1" noRot="1" noChangeAspect="1" noTextEdit="1"/>
          </p:cNvSpPr>
          <p:nvPr>
            <p:ph type="sldImg"/>
          </p:nvPr>
        </p:nvSpPr>
        <p:spPr>
          <a:ln>
            <a:solidFill>
              <a:srgbClr val="000000">
                <a:alpha val="100000"/>
              </a:srgbClr>
            </a:solidFill>
            <a:miter lim="800000"/>
          </a:ln>
        </p:spPr>
      </p:sp>
      <p:sp>
        <p:nvSpPr>
          <p:cNvPr id="10243"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en-US" dirty="0"/>
          </a:p>
        </p:txBody>
      </p:sp>
      <p:sp>
        <p:nvSpPr>
          <p:cNvPr id="10244"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IN" altLang="en-US" sz="1200" dirty="0">
                <a:latin typeface="Calibri" panose="020F0502020204030204" pitchFamily="34" charset="0"/>
              </a:rPr>
            </a:fld>
            <a:endParaRPr lang="en-IN" altLang="en-US" sz="1200" dirty="0">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Slide Image Placeholder 1"/>
          <p:cNvSpPr>
            <a:spLocks noGrp="1" noRot="1" noChangeAspect="1" noTextEdit="1"/>
          </p:cNvSpPr>
          <p:nvPr>
            <p:ph type="sldImg"/>
          </p:nvPr>
        </p:nvSpPr>
        <p:spPr>
          <a:ln>
            <a:solidFill>
              <a:srgbClr val="000000">
                <a:alpha val="100000"/>
              </a:srgbClr>
            </a:solidFill>
            <a:miter lim="800000"/>
          </a:ln>
        </p:spPr>
      </p:sp>
      <p:sp>
        <p:nvSpPr>
          <p:cNvPr id="12291"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en-US" dirty="0"/>
          </a:p>
        </p:txBody>
      </p:sp>
      <p:sp>
        <p:nvSpPr>
          <p:cNvPr id="12292"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IN" altLang="en-US" sz="1200" dirty="0">
                <a:latin typeface="Calibri" panose="020F0502020204030204" pitchFamily="34" charset="0"/>
              </a:rPr>
            </a:fld>
            <a:endParaRPr lang="en-IN" altLang="en-US" sz="1200" dirty="0">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Slide Image Placeholder 1"/>
          <p:cNvSpPr>
            <a:spLocks noGrp="1" noRot="1" noChangeAspect="1" noTextEdit="1"/>
          </p:cNvSpPr>
          <p:nvPr>
            <p:ph type="sldImg"/>
          </p:nvPr>
        </p:nvSpPr>
        <p:spPr>
          <a:ln>
            <a:solidFill>
              <a:srgbClr val="000000">
                <a:alpha val="100000"/>
              </a:srgbClr>
            </a:solidFill>
            <a:miter lim="800000"/>
          </a:ln>
        </p:spPr>
      </p:sp>
      <p:sp>
        <p:nvSpPr>
          <p:cNvPr id="1433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en-US" dirty="0"/>
          </a:p>
        </p:txBody>
      </p:sp>
      <p:sp>
        <p:nvSpPr>
          <p:cNvPr id="14340"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IN" altLang="en-US" sz="1200" dirty="0">
                <a:latin typeface="Calibri" panose="020F0502020204030204" pitchFamily="34" charset="0"/>
              </a:rPr>
            </a:fld>
            <a:endParaRPr lang="en-IN" altLang="en-US" sz="1200" dirty="0">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Slide Image Placeholder 1"/>
          <p:cNvSpPr>
            <a:spLocks noGrp="1" noRot="1" noChangeAspect="1" noTextEdit="1"/>
          </p:cNvSpPr>
          <p:nvPr>
            <p:ph type="sldImg"/>
          </p:nvPr>
        </p:nvSpPr>
        <p:spPr>
          <a:ln>
            <a:solidFill>
              <a:srgbClr val="000000">
                <a:alpha val="100000"/>
              </a:srgbClr>
            </a:solidFill>
            <a:miter lim="800000"/>
          </a:ln>
        </p:spPr>
      </p:sp>
      <p:sp>
        <p:nvSpPr>
          <p:cNvPr id="27651"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en-US" altLang="en-US" dirty="0"/>
          </a:p>
        </p:txBody>
      </p:sp>
      <p:sp>
        <p:nvSpPr>
          <p:cNvPr id="27652"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en-IN" altLang="en-US" sz="1200" dirty="0">
                <a:latin typeface="Calibri" panose="020F0502020204030204" pitchFamily="34" charset="0"/>
              </a:rPr>
            </a:fld>
            <a:endParaRPr lang="en-IN" altLang="en-US" sz="12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E23ACFF8-AC41-4A09-9845-11CA2CE55088}"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E23ACFF8-AC41-4A09-9845-11CA2CE55088}"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E23ACFF8-AC41-4A09-9845-11CA2CE55088}"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E23ACFF8-AC41-4A09-9845-11CA2CE55088}"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E23ACFF8-AC41-4A09-9845-11CA2CE55088}"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E23ACFF8-AC41-4A09-9845-11CA2CE55088}"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E23ACFF8-AC41-4A09-9845-11CA2CE55088}"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E23ACFF8-AC41-4A09-9845-11CA2CE55088}"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E23ACFF8-AC41-4A09-9845-11CA2CE55088}"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E23ACFF8-AC41-4A09-9845-11CA2CE55088}"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E23ACFF8-AC41-4A09-9845-11CA2CE55088}"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p>
            <a:pPr lvl="0"/>
            <a:r>
              <a:rPr lang="en-US" altLang="en-US" dirty="0"/>
              <a:t>Click to edit Master title style</a:t>
            </a:r>
            <a:endParaRPr lang="en-IN" altLang="en-US" dirty="0"/>
          </a:p>
        </p:txBody>
      </p:sp>
      <p:sp>
        <p:nvSpPr>
          <p:cNvPr id="1027" name="Text Placeholder 2"/>
          <p:cNvSpPr>
            <a:spLocks noGrp="1"/>
          </p:cNvSpPr>
          <p:nvPr>
            <p:ph type="body" idx="1"/>
          </p:nvPr>
        </p:nvSpPr>
        <p:spPr>
          <a:xfrm>
            <a:off x="838200" y="1825625"/>
            <a:ext cx="10515600" cy="4351338"/>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23ACFF8-AC41-4A09-9845-11CA2CE55088}"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34" charset="0"/>
              </a:defRPr>
            </a:lvl1pPr>
          </a:lstStyle>
          <a:p>
            <a:pPr lvl="0" eaLnBrk="1" hangingPunct="1"/>
            <a:fld id="{9A0DB2DC-4C9A-4742-B13C-FB6460FD3503}" type="slidenum">
              <a:rPr lang="en-IN" altLang="en-US" dirty="0"/>
            </a:fld>
            <a:endParaRPr lang="en-I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jpe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 Id="rId3" Type="http://schemas.openxmlformats.org/officeDocument/2006/relationships/image" Target="../media/image4.png"/><Relationship Id="rId2" Type="http://schemas.openxmlformats.org/officeDocument/2006/relationships/image" Target="../media/image3.png"/><Relationship Id="rId10"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Subtitle 2"/>
          <p:cNvSpPr txBox="1"/>
          <p:nvPr/>
        </p:nvSpPr>
        <p:spPr>
          <a:xfrm>
            <a:off x="690563" y="2398713"/>
            <a:ext cx="10990262" cy="1620837"/>
          </a:xfrm>
          <a:prstGeom prst="rect">
            <a:avLst/>
          </a:prstGeom>
          <a:noFill/>
          <a:ln w="9525">
            <a:noFill/>
          </a:ln>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buNone/>
            </a:pPr>
            <a:r>
              <a:rPr lang="en-IN" altLang="x-none" sz="4400" dirty="0">
                <a:solidFill>
                  <a:srgbClr val="002060"/>
                </a:solidFill>
                <a:latin typeface="Times New Roman" panose="02020603050405020304" pitchFamily="18" charset="0"/>
                <a:ea typeface="Arial" panose="020B0604020202020204" pitchFamily="34" charset="0"/>
                <a:cs typeface="Times New Roman" panose="02020603050405020304" pitchFamily="18" charset="0"/>
                <a:sym typeface="+mn-ea"/>
              </a:rPr>
              <a:t>Traffic Severity Prediction Using Machine Learning and Deep Learning</a:t>
            </a:r>
            <a:endParaRPr lang="en-IN" altLang="x-none" sz="4400" dirty="0">
              <a:solidFill>
                <a:srgbClr val="002060"/>
              </a:solidFill>
              <a:latin typeface="Times New Roman" panose="02020603050405020304" pitchFamily="18" charset="0"/>
              <a:ea typeface="Arial" panose="020B0604020202020204" pitchFamily="34" charset="0"/>
              <a:cs typeface="Times New Roman" panose="02020603050405020304" pitchFamily="18" charset="0"/>
            </a:endParaRPr>
          </a:p>
          <a:p>
            <a:pPr marL="0" lvl="0" indent="0" algn="ctr" eaLnBrk="1" hangingPunct="1">
              <a:buNone/>
            </a:pPr>
            <a:endParaRPr lang="en-IN" altLang="en-US" sz="4400" dirty="0">
              <a:solidFill>
                <a:srgbClr val="002060"/>
              </a:solidFill>
              <a:latin typeface="Times New Roman" panose="02020603050405020304" pitchFamily="18" charset="0"/>
              <a:cs typeface="Times New Roman" panose="02020603050405020304" pitchFamily="18" charset="0"/>
            </a:endParaRPr>
          </a:p>
          <a:p>
            <a:pPr marL="0" lvl="0" indent="0" algn="ctr" eaLnBrk="1" hangingPunct="1">
              <a:buNone/>
            </a:pPr>
            <a:endParaRPr lang="en-US" altLang="en-US" sz="4400" b="1" dirty="0">
              <a:latin typeface="Times New Roman" panose="02020603050405020304" pitchFamily="18" charset="0"/>
              <a:ea typeface="Times New Roman" panose="02020603050405020304" pitchFamily="18" charset="0"/>
            </a:endParaRPr>
          </a:p>
        </p:txBody>
      </p:sp>
      <p:sp>
        <p:nvSpPr>
          <p:cNvPr id="3075" name="TextBox 15"/>
          <p:cNvSpPr txBox="1"/>
          <p:nvPr/>
        </p:nvSpPr>
        <p:spPr>
          <a:xfrm>
            <a:off x="5942013" y="4573588"/>
            <a:ext cx="6249987" cy="1014730"/>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en-US" altLang="en-US" sz="2000" dirty="0">
                <a:latin typeface="Times New Roman" panose="02020603050405020304" pitchFamily="18" charset="0"/>
                <a:cs typeface="Times New Roman" panose="02020603050405020304" pitchFamily="18" charset="0"/>
              </a:rPr>
              <a:t>Under the Guidance of</a:t>
            </a:r>
            <a:endParaRPr lang="en-US" altLang="en-US" sz="2000" dirty="0">
              <a:latin typeface="Times New Roman" panose="02020603050405020304" pitchFamily="18" charset="0"/>
              <a:cs typeface="Times New Roman" panose="02020603050405020304" pitchFamily="18" charset="0"/>
            </a:endParaRPr>
          </a:p>
          <a:p>
            <a:pPr marL="0" lvl="0" indent="0" algn="ctr" eaLnBrk="1" hangingPunct="1">
              <a:lnSpc>
                <a:spcPct val="100000"/>
              </a:lnSpc>
              <a:spcBef>
                <a:spcPct val="0"/>
              </a:spcBef>
              <a:buFontTx/>
              <a:buNone/>
            </a:pPr>
            <a:r>
              <a:rPr lang="en-IN" altLang="en-US" sz="2000" b="1" dirty="0">
                <a:latin typeface="Times New Roman" panose="02020603050405020304" pitchFamily="18" charset="0"/>
                <a:cs typeface="Times New Roman" panose="02020603050405020304" pitchFamily="18" charset="0"/>
              </a:rPr>
              <a:t>Mrs G.Shruthi</a:t>
            </a:r>
            <a:endParaRPr lang="en-US" altLang="en-US" sz="2000" b="1" dirty="0">
              <a:latin typeface="Times New Roman" panose="02020603050405020304" pitchFamily="18" charset="0"/>
              <a:cs typeface="Times New Roman" panose="02020603050405020304" pitchFamily="18" charset="0"/>
            </a:endParaRPr>
          </a:p>
          <a:p>
            <a:pPr marL="0" lvl="0" indent="0" algn="ctr" eaLnBrk="1" hangingPunct="1">
              <a:lnSpc>
                <a:spcPct val="100000"/>
              </a:lnSpc>
              <a:spcBef>
                <a:spcPct val="0"/>
              </a:spcBef>
              <a:buFontTx/>
              <a:buNone/>
            </a:pPr>
            <a:r>
              <a:rPr lang="en-US" altLang="en-US" sz="2000" dirty="0">
                <a:latin typeface="Times New Roman" panose="02020603050405020304" pitchFamily="18" charset="0"/>
                <a:cs typeface="Times New Roman" panose="02020603050405020304" pitchFamily="18" charset="0"/>
              </a:rPr>
              <a:t>Assistant Professor, Department of  CSE-DS</a:t>
            </a:r>
            <a:endParaRPr lang="en-US" altLang="en-US" sz="2000" dirty="0">
              <a:latin typeface="Times New Roman" panose="02020603050405020304" pitchFamily="18" charset="0"/>
              <a:ea typeface="Times New Roman" panose="02020603050405020304" pitchFamily="18" charset="0"/>
            </a:endParaRPr>
          </a:p>
        </p:txBody>
      </p:sp>
      <p:sp>
        <p:nvSpPr>
          <p:cNvPr id="2" name="Footer Placeholder 1"/>
          <p:cNvSpPr txBox="1">
            <a:spLocks noGrp="1"/>
          </p:cNvSpPr>
          <p:nvPr>
            <p:ph type="ftr" sz="quarter" idx="11"/>
          </p:nvPr>
        </p:nvSpPr>
        <p:spPr>
          <a:xfrm>
            <a:off x="-588962" y="6356350"/>
            <a:ext cx="4114800" cy="365125"/>
          </a:xfrm>
          <a:no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I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rPr>
              <a:t> </a:t>
            </a:r>
            <a:endParaRPr kumimoji="0" lang="en-I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endParaRPr>
          </a:p>
        </p:txBody>
      </p:sp>
      <p:pic>
        <p:nvPicPr>
          <p:cNvPr id="3077" name="image1.jpeg"/>
          <p:cNvPicPr>
            <a:picLocks noChangeAspect="1"/>
          </p:cNvPicPr>
          <p:nvPr/>
        </p:nvPicPr>
        <p:blipFill>
          <a:blip r:embed="rId1"/>
          <a:stretch>
            <a:fillRect/>
          </a:stretch>
        </p:blipFill>
        <p:spPr>
          <a:xfrm>
            <a:off x="619125" y="268288"/>
            <a:ext cx="11026775" cy="1371600"/>
          </a:xfrm>
          <a:prstGeom prst="rect">
            <a:avLst/>
          </a:prstGeom>
          <a:noFill/>
          <a:ln w="9525">
            <a:noFill/>
          </a:ln>
        </p:spPr>
      </p:pic>
      <p:sp>
        <p:nvSpPr>
          <p:cNvPr id="2054" name="TextBox 4"/>
          <p:cNvSpPr txBox="1">
            <a:spLocks noChangeArrowheads="1"/>
          </p:cNvSpPr>
          <p:nvPr/>
        </p:nvSpPr>
        <p:spPr bwMode="auto">
          <a:xfrm>
            <a:off x="1076325" y="4413250"/>
            <a:ext cx="4597400" cy="1322070"/>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pt-BR" altLang="en-US" sz="2000" b="1" i="0" u="none" strike="noStrike" kern="1200" cap="none" spc="0" normalizeH="0" baseline="0" noProof="0" dirty="0">
                <a:ln>
                  <a:noFill/>
                </a:ln>
                <a:solidFill>
                  <a:schemeClr val="tx1"/>
                </a:solidFill>
                <a:effectLst/>
                <a:uLnTx/>
                <a:uFillTx/>
                <a:latin typeface="Aptos Display" panose="020B0004020202020204" pitchFamily="34" charset="0"/>
                <a:ea typeface="+mn-ea"/>
                <a:cs typeface="Arial" panose="020B0604020202020204" pitchFamily="34" charset="0"/>
              </a:rPr>
              <a:t> </a:t>
            </a:r>
            <a:r>
              <a:rPr kumimoji="0" lang="pt-BR"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Batch No. A</a:t>
            </a:r>
            <a:r>
              <a:rPr kumimoji="0" lang="en-IN" altLang="pt-BR"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endParaRPr kumimoji="0" lang="pt-BR"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ct val="0"/>
              </a:spcBef>
              <a:spcAft>
                <a:spcPct val="0"/>
              </a:spcAft>
              <a:buClrTx/>
              <a:buSzTx/>
              <a:buFontTx/>
              <a:buAutoNum type="arabicPeriod"/>
              <a:defRPr/>
            </a:pPr>
            <a:r>
              <a:rPr kumimoji="0" lang="en-IN" altLang="pt-BR"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A.J.Shruthi</a:t>
            </a:r>
            <a:r>
              <a:rPr kumimoji="0" lang="pt-BR"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IN" altLang="pt-BR"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218R1A6701</a:t>
            </a:r>
            <a:endParaRPr kumimoji="0" lang="pt-BR"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ct val="0"/>
              </a:spcBef>
              <a:spcAft>
                <a:spcPct val="0"/>
              </a:spcAft>
              <a:buClrTx/>
              <a:buSzTx/>
              <a:buFontTx/>
              <a:buAutoNum type="arabicPeriod"/>
              <a:defRPr/>
            </a:pPr>
            <a:r>
              <a:rPr kumimoji="0" lang="en-IN" altLang="pt-BR"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A.Srikanth</a:t>
            </a:r>
            <a:r>
              <a:rPr kumimoji="0" lang="pt-BR"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IN" altLang="pt-BR"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218R1A6705</a:t>
            </a:r>
            <a:r>
              <a:rPr kumimoji="0" lang="en-I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I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ct val="0"/>
              </a:spcBef>
              <a:spcAft>
                <a:spcPct val="0"/>
              </a:spcAft>
              <a:buClrTx/>
              <a:buSzTx/>
              <a:buFontTx/>
              <a:buAutoNum type="arabicPeriod" startAt="3"/>
              <a:defRPr/>
            </a:pPr>
            <a:r>
              <a:rPr kumimoji="0" lang="en-IN" altLang="pt-BR"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S.Vivek Chary</a:t>
            </a:r>
            <a:r>
              <a:rPr kumimoji="0" lang="pt-BR"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IN" altLang="pt-BR"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218R1A6753</a:t>
            </a:r>
            <a:endParaRPr kumimoji="0" lang="pt-BR" altLang="en-US" sz="1800" b="0" i="0" u="none" strike="noStrike" kern="1200" cap="none" spc="0" normalizeH="0" baseline="0" noProof="0" dirty="0">
              <a:ln>
                <a:noFill/>
              </a:ln>
              <a:solidFill>
                <a:schemeClr val="tx1"/>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Title 7"/>
          <p:cNvSpPr>
            <a:spLocks noGrp="1"/>
          </p:cNvSpPr>
          <p:nvPr>
            <p:ph type="ctrTitle"/>
          </p:nvPr>
        </p:nvSpPr>
        <p:spPr>
          <a:xfrm>
            <a:off x="1136650" y="311150"/>
            <a:ext cx="10739438" cy="898525"/>
          </a:xfrm>
        </p:spPr>
        <p:txBody>
          <a:bodyPr vert="horz" wrap="square" lIns="91440" tIns="45720" rIns="91440" bIns="45720" anchor="b" anchorCtr="0"/>
          <a:p>
            <a:pPr eaLnBrk="1" hangingPunct="1">
              <a:buClrTx/>
              <a:buSzTx/>
              <a:buFontTx/>
            </a:pPr>
            <a:r>
              <a:rPr lang="en-IN" altLang="en-US" sz="4400" kern="1200" dirty="0">
                <a:solidFill>
                  <a:srgbClr val="002060"/>
                </a:solidFill>
                <a:latin typeface="Times New Roman" panose="02020603050405020304" pitchFamily="18" charset="0"/>
                <a:ea typeface="+mj-ea"/>
                <a:cs typeface="Times New Roman" panose="02020603050405020304" pitchFamily="18" charset="0"/>
              </a:rPr>
              <a:t>Outline</a:t>
            </a:r>
            <a:endParaRPr lang="en-IN" altLang="en-US" sz="4400" kern="1200" dirty="0">
              <a:solidFill>
                <a:srgbClr val="002060"/>
              </a:solidFill>
              <a:latin typeface="Times New Roman" panose="02020603050405020304" pitchFamily="18" charset="0"/>
              <a:ea typeface="Times New Roman" panose="02020603050405020304" pitchFamily="18" charset="0"/>
              <a:cs typeface="+mj-cs"/>
            </a:endParaRPr>
          </a:p>
        </p:txBody>
      </p:sp>
      <p:sp>
        <p:nvSpPr>
          <p:cNvPr id="10" name="Subtitle 9"/>
          <p:cNvSpPr>
            <a:spLocks noGrp="1"/>
          </p:cNvSpPr>
          <p:nvPr>
            <p:ph type="subTitle" idx="1"/>
          </p:nvPr>
        </p:nvSpPr>
        <p:spPr>
          <a:xfrm>
            <a:off x="450850" y="1241425"/>
            <a:ext cx="11555413" cy="5367338"/>
          </a:xfrm>
        </p:spPr>
        <p:txBody>
          <a:bodyPr vert="horz" wrap="square" lIns="91440" tIns="45720" rIns="91440" bIns="45720" numCol="1" rtlCol="0" anchor="t" anchorCtr="0" compatLnSpc="1">
            <a:normAutofit fontScale="40000" lnSpcReduction="20000"/>
          </a:bodyPr>
          <a:lstStyle/>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IN"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Introduction </a:t>
            </a:r>
            <a:r>
              <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endPar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IN"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Literature survey</a:t>
            </a:r>
            <a:endPar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Existing System</a:t>
            </a:r>
            <a:endParaRPr kumimoji="0" lang="en-US" alt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Objectives of Proposed research work</a:t>
            </a:r>
            <a:endPar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alt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Software &amp; Hardware Requirements</a:t>
            </a:r>
            <a:endParaRPr kumimoji="0" lang="en-US" alt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IN"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Block Diagram of </a:t>
            </a:r>
            <a:r>
              <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Proposal</a:t>
            </a:r>
            <a:endPar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UML diagrams</a:t>
            </a:r>
            <a:endPar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Implementation Code</a:t>
            </a:r>
            <a:endPar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Testing</a:t>
            </a:r>
            <a:endPar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IN"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Results</a:t>
            </a:r>
            <a:r>
              <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endPar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Conclusions &amp; Future Enhancement </a:t>
            </a:r>
            <a:endPar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References</a:t>
            </a:r>
            <a:endParaRPr kumimoji="0" lang="en-US" sz="53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625475" marR="0" lvl="0" indent="-625475"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endParaRPr kumimoji="0" lang="en-IN" sz="44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20000"/>
              </a:lnSpc>
              <a:spcBef>
                <a:spcPts val="1000"/>
              </a:spcBef>
              <a:spcAft>
                <a:spcPts val="0"/>
              </a:spcAft>
              <a:buClrTx/>
              <a:buSzTx/>
              <a:buFont typeface="Arial" panose="020B0604020202020204" pitchFamily="34" charset="0"/>
              <a:buNone/>
              <a:defRPr/>
            </a:pPr>
            <a:endParaRPr kumimoji="0" lang="en-IN" sz="4400" b="0" i="0" u="none" strike="noStrike" kern="1200" cap="none" spc="0" normalizeH="0" baseline="0" noProof="0" dirty="0">
              <a:ln>
                <a:noFill/>
              </a:ln>
              <a:solidFill>
                <a:srgbClr val="002060"/>
              </a:solidFill>
              <a:effectLst/>
              <a:uLnTx/>
              <a:uFillTx/>
              <a:latin typeface="+mn-lt"/>
              <a:ea typeface="+mn-ea"/>
              <a:cs typeface="Times New Roman" panose="02020603050405020304" pitchFamily="18" charset="0"/>
            </a:endParaRP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en-IN" sz="4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100" name="Slide Number Placeholder 1"/>
          <p:cNvSpPr txBox="1">
            <a:spLocks noGrp="1"/>
          </p:cNvSpPr>
          <p:nvPr>
            <p:ph type="sldNum" sz="quarter" idx="12"/>
          </p:nvPr>
        </p:nvSpPr>
        <p:spPr>
          <a:xfrm>
            <a:off x="9448800" y="0"/>
            <a:ext cx="2743200" cy="365125"/>
          </a:xfrm>
          <a:noFill/>
          <a:ln>
            <a:noFill/>
          </a:ln>
        </p:spPr>
        <p:txBody>
          <a:bodyPr anchor="ctr" anchorCtr="0"/>
          <a:p>
            <a:pPr marL="0" indent="0" algn="r" eaLnBrk="1" hangingPunct="1">
              <a:lnSpc>
                <a:spcPct val="100000"/>
              </a:lnSpc>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itle 1"/>
          <p:cNvSpPr>
            <a:spLocks noGrp="1"/>
          </p:cNvSpPr>
          <p:nvPr>
            <p:ph type="title"/>
          </p:nvPr>
        </p:nvSpPr>
        <p:spPr>
          <a:xfrm>
            <a:off x="838200" y="365125"/>
            <a:ext cx="10531475" cy="1101725"/>
          </a:xfrm>
        </p:spPr>
        <p:txBody>
          <a:bodyPr vert="horz" wrap="square" lIns="91440" tIns="45720" rIns="91440" bIns="45720" anchor="ctr" anchorCtr="0"/>
          <a:p>
            <a:pPr eaLnBrk="1" hangingPunct="1"/>
            <a:r>
              <a:rPr lang="en-US" altLang="en-US" sz="4000" b="1" dirty="0">
                <a:solidFill>
                  <a:schemeClr val="accent1"/>
                </a:solidFill>
                <a:latin typeface="Times New Roman" panose="02020603050405020304" pitchFamily="18" charset="0"/>
                <a:cs typeface="Times New Roman" panose="02020603050405020304" pitchFamily="18" charset="0"/>
              </a:rPr>
              <a:t>Introduction</a:t>
            </a:r>
            <a:endParaRPr lang="en-US" altLang="en-US" sz="4000" b="1" dirty="0">
              <a:solidFill>
                <a:schemeClr val="accent1"/>
              </a:solidFill>
              <a:latin typeface="Times New Roman" panose="02020603050405020304" pitchFamily="18" charset="0"/>
              <a:ea typeface="Times New Roman" panose="02020603050405020304" pitchFamily="18" charset="0"/>
            </a:endParaRPr>
          </a:p>
        </p:txBody>
      </p:sp>
      <p:sp>
        <p:nvSpPr>
          <p:cNvPr id="5123" name="Content Placeholder 2"/>
          <p:cNvSpPr>
            <a:spLocks noGrp="1"/>
          </p:cNvSpPr>
          <p:nvPr>
            <p:ph idx="1"/>
          </p:nvPr>
        </p:nvSpPr>
        <p:spPr>
          <a:xfrm>
            <a:off x="137795" y="1206500"/>
            <a:ext cx="11551285" cy="5652135"/>
          </a:xfrm>
        </p:spPr>
        <p:txBody>
          <a:bodyPr vert="horz" wrap="square" lIns="91440" tIns="45720" rIns="91440" bIns="45720" anchor="t" anchorCtr="0"/>
          <a:p>
            <a:pPr eaLnBrk="1" hangingPunct="1">
              <a:buFont typeface="Wingdings" panose="05000000000000000000" pitchFamily="2" charset="2"/>
              <a:buChar char="Ø"/>
            </a:pPr>
            <a:r>
              <a:rPr lang="en-US" altLang="en-US" sz="2400" dirty="0">
                <a:latin typeface="Times New Roman" panose="02020603050405020304" pitchFamily="18" charset="0"/>
                <a:ea typeface="Times New Roman" panose="02020603050405020304" pitchFamily="18" charset="0"/>
              </a:rPr>
              <a:t>Road traffic accidents cause injuries, deaths, disabilities, and property loss, impacting both the economy and healthcare systems by increasing the burden on hospitals.</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pitchFamily="2" charset="2"/>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pitchFamily="2" charset="2"/>
              <a:buChar char="Ø"/>
            </a:pPr>
            <a:r>
              <a:rPr lang="en-US" altLang="en-US" sz="2400" dirty="0">
                <a:latin typeface="Times New Roman" panose="02020603050405020304" pitchFamily="18" charset="0"/>
                <a:ea typeface="Times New Roman" panose="02020603050405020304" pitchFamily="18" charset="0"/>
              </a:rPr>
              <a:t>This project uses Machine Learning (ML) and Deep Learning (DL) to predict accident severity based on factors like weather, road type, and time of day.</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pitchFamily="2" charset="2"/>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pitchFamily="2" charset="2"/>
              <a:buChar char="Ø"/>
            </a:pPr>
            <a:r>
              <a:rPr lang="en-US" altLang="en-US" sz="2400" dirty="0">
                <a:latin typeface="Times New Roman" panose="02020603050405020304" pitchFamily="18" charset="0"/>
                <a:ea typeface="Times New Roman" panose="02020603050405020304" pitchFamily="18" charset="0"/>
              </a:rPr>
              <a:t>The system integrates Random Forest (RF) for feature selection and Convolutional Neural Networks (CNN) for identifying patterns, improving prediction accuracy.</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pitchFamily="2" charset="2"/>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pitchFamily="2" charset="2"/>
              <a:buChar char="Ø"/>
            </a:pPr>
            <a:r>
              <a:rPr lang="en-US" altLang="en-US" sz="2400" dirty="0">
                <a:latin typeface="Times New Roman" panose="02020603050405020304" pitchFamily="18" charset="0"/>
                <a:ea typeface="Times New Roman" panose="02020603050405020304" pitchFamily="18" charset="0"/>
              </a:rPr>
              <a:t>The model analyzes multiple factors, including weather conditions, road infrastructure, traffic density, and time variables, to classify accident severity.</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pitchFamily="2" charset="2"/>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pitchFamily="2" charset="2"/>
              <a:buChar char="Ø"/>
            </a:pPr>
            <a:r>
              <a:rPr lang="en-US" altLang="en-US" sz="2400" dirty="0">
                <a:latin typeface="Times New Roman" panose="02020603050405020304" pitchFamily="18" charset="0"/>
                <a:ea typeface="Times New Roman" panose="02020603050405020304" pitchFamily="18" charset="0"/>
              </a:rPr>
              <a:t>The system helps in early risk detection, better emergency response, and smarter traffic management, making roads safer and improving urban transportation systems.</a:t>
            </a:r>
            <a:endParaRPr lang="en-US"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Content Placeholder 2"/>
          <p:cNvSpPr>
            <a:spLocks noGrp="1"/>
          </p:cNvSpPr>
          <p:nvPr>
            <p:ph idx="1"/>
          </p:nvPr>
        </p:nvSpPr>
        <p:spPr>
          <a:xfrm>
            <a:off x="338455" y="1069975"/>
            <a:ext cx="11853545" cy="5788025"/>
          </a:xfrm>
        </p:spPr>
        <p:txBody>
          <a:bodyPr vert="horz" wrap="square" lIns="91440" tIns="45720" rIns="91440" bIns="45720" anchor="t" anchorCtr="0"/>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The system predicts accident severity, enabling authorities to take preventive measures in high-risk areas.</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Emergency services can use these predictions to respond faster and manage resources effectively.</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Integrating the model with smart traffic systems helps adjust signals and reroute traffic to reduce congestion.</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City planners can use the model’s insights to design safer roads, crossings, and bike lanes.</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The system improves traffic flow, enhances emergency response, and makes predictions faster and more efficient by focusing on key features.</a:t>
            </a:r>
            <a:endParaRPr lang="en-US" altLang="en-US" sz="2400" dirty="0">
              <a:latin typeface="Times New Roman" panose="02020603050405020304" pitchFamily="18" charset="0"/>
              <a:ea typeface="Times New Roman" panose="02020603050405020304" pitchFamily="18" charset="0"/>
            </a:endParaRPr>
          </a:p>
        </p:txBody>
      </p:sp>
      <p:sp>
        <p:nvSpPr>
          <p:cNvPr id="6" name="Title 1"/>
          <p:cNvSpPr txBox="1"/>
          <p:nvPr/>
        </p:nvSpPr>
        <p:spPr>
          <a:xfrm>
            <a:off x="752475" y="311150"/>
            <a:ext cx="10531475" cy="914400"/>
          </a:xfrm>
          <a:prstGeom prst="rect">
            <a:avLst/>
          </a:prstGeom>
        </p:spPr>
        <p:txBody>
          <a:bodyPr anchor="ctr">
            <a:normAutofit/>
          </a:bodyPr>
          <a:lstStyle/>
          <a:p>
            <a:pPr marR="0" defTabSz="914400" eaLnBrk="1" fontAlgn="auto" hangingPunct="1">
              <a:lnSpc>
                <a:spcPct val="90000"/>
              </a:lnSpc>
              <a:spcAft>
                <a:spcPts val="0"/>
              </a:spcAft>
              <a:buClrTx/>
              <a:buSzTx/>
              <a:buFontTx/>
              <a:buNone/>
              <a:defRPr/>
            </a:pPr>
            <a:r>
              <a:rPr kumimoji="0" lang="en-US" sz="4000" b="1" kern="1200" cap="none" spc="0" normalizeH="0" baseline="0" noProof="0" dirty="0">
                <a:solidFill>
                  <a:schemeClr val="accent1"/>
                </a:solidFill>
                <a:latin typeface="Times New Roman" panose="02020603050405020304" pitchFamily="18" charset="0"/>
                <a:ea typeface="+mj-ea"/>
                <a:cs typeface="Times New Roman" panose="02020603050405020304" pitchFamily="18" charset="0"/>
              </a:rPr>
              <a:t>Introduction</a:t>
            </a:r>
            <a:endParaRPr kumimoji="0" lang="en-US" sz="4000" b="1" kern="1200" cap="none" spc="0" normalizeH="0" baseline="0" noProof="0" dirty="0">
              <a:solidFill>
                <a:schemeClr val="accent1"/>
              </a:solidFill>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Content Placeholder 2"/>
          <p:cNvSpPr>
            <a:spLocks noGrp="1"/>
          </p:cNvSpPr>
          <p:nvPr>
            <p:ph idx="1"/>
          </p:nvPr>
        </p:nvSpPr>
        <p:spPr>
          <a:xfrm>
            <a:off x="313690" y="1484630"/>
            <a:ext cx="11721465" cy="5266690"/>
          </a:xfrm>
        </p:spPr>
        <p:txBody>
          <a:bodyPr vert="horz" wrap="square" lIns="91440" tIns="45720" rIns="91440" bIns="45720" anchor="t" anchorCtr="0"/>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Traditional systems use fixed rules, making them ineffective in handling sudden changes like road closures, accidents, or bad weather.</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Bayesian models need expert knowledge to set complex rules, making them difficult to build and maintain.</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ANN models require powerful hardware and a lot of time for training, making them hard to use in low-resource environments.</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While SVM models work well with small datasets, they struggle to handle large-scale traffic data, reducing their efficiency.</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endParaRPr lang="en-US" altLang="en-US" sz="2400" dirty="0">
              <a:latin typeface="Times New Roman" panose="02020603050405020304" pitchFamily="18" charset="0"/>
              <a:ea typeface="Times New Roman" panose="02020603050405020304" pitchFamily="18" charset="0"/>
            </a:endParaRPr>
          </a:p>
          <a:p>
            <a:pPr marL="0" indent="0" algn="just" eaLnBrk="1" hangingPunct="1">
              <a:buFont typeface="Wingdings" panose="05000000000000000000" charset="0"/>
              <a:buNone/>
            </a:pPr>
            <a:endParaRPr lang="en-US" altLang="en-US" sz="2400" dirty="0">
              <a:latin typeface="Times New Roman" panose="02020603050405020304" pitchFamily="18" charset="0"/>
              <a:ea typeface="Times New Roman" panose="02020603050405020304" pitchFamily="18" charset="0"/>
            </a:endParaRPr>
          </a:p>
        </p:txBody>
      </p:sp>
      <p:sp>
        <p:nvSpPr>
          <p:cNvPr id="5" name="Title 1"/>
          <p:cNvSpPr txBox="1"/>
          <p:nvPr/>
        </p:nvSpPr>
        <p:spPr>
          <a:xfrm>
            <a:off x="752475" y="311150"/>
            <a:ext cx="10531475" cy="914400"/>
          </a:xfrm>
          <a:prstGeom prst="rect">
            <a:avLst/>
          </a:prstGeom>
        </p:spPr>
        <p:txBody>
          <a:bodyPr anchor="ctr">
            <a:normAutofit/>
          </a:bodyPr>
          <a:lstStyle/>
          <a:p>
            <a:pPr marR="0" defTabSz="914400" eaLnBrk="1" fontAlgn="auto" hangingPunct="1">
              <a:lnSpc>
                <a:spcPct val="90000"/>
              </a:lnSpc>
              <a:spcAft>
                <a:spcPts val="0"/>
              </a:spcAft>
              <a:buClrTx/>
              <a:buSzTx/>
              <a:buFontTx/>
              <a:buNone/>
              <a:defRPr/>
            </a:pPr>
            <a:r>
              <a:rPr kumimoji="0" lang="en-US" sz="4000" b="1" kern="1200" cap="none" spc="0" normalizeH="0" baseline="0" noProof="0" dirty="0">
                <a:solidFill>
                  <a:schemeClr val="accent1"/>
                </a:solidFill>
                <a:latin typeface="Times New Roman" panose="02020603050405020304" pitchFamily="18" charset="0"/>
                <a:ea typeface="+mj-ea"/>
                <a:cs typeface="Times New Roman" panose="02020603050405020304" pitchFamily="18" charset="0"/>
              </a:rPr>
              <a:t>Introduction</a:t>
            </a:r>
            <a:endParaRPr kumimoji="0" lang="en-US" sz="4000" b="1" kern="1200" cap="none" spc="0" normalizeH="0" baseline="0" noProof="0" dirty="0">
              <a:solidFill>
                <a:schemeClr val="accent1"/>
              </a:solidFill>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Content Placeholder 2"/>
          <p:cNvSpPr>
            <a:spLocks noGrp="1"/>
          </p:cNvSpPr>
          <p:nvPr>
            <p:ph idx="1"/>
          </p:nvPr>
        </p:nvSpPr>
        <p:spPr>
          <a:xfrm>
            <a:off x="0" y="1116330"/>
            <a:ext cx="12090400" cy="5603240"/>
          </a:xfrm>
        </p:spPr>
        <p:txBody>
          <a:bodyPr vert="horz" wrap="square" lIns="91440" tIns="45720" rIns="91440" bIns="45720" anchor="t" anchorCtr="0"/>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The Ensemble Fusion Classifier (EFC) combines multiple models, reducing overfitting and ensuring strong performance in different traffic conditions.</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The EFC model uses lightweight yet powerful algorithms, making it fast and accurate for real-time traffic management.</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The model effectively handles noisy, incomplete, or inconsistent data, ensuring stable and reliable performance.</a:t>
            </a: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The EFC system adapts well to different regions and varied traffic conditions by incorporating local features and environmental factors.</a:t>
            </a:r>
            <a:endParaRPr lang="en-US" altLang="en-US" sz="2400" dirty="0">
              <a:latin typeface="Times New Roman" panose="02020603050405020304" pitchFamily="18" charset="0"/>
              <a:ea typeface="Times New Roman" panose="02020603050405020304" pitchFamily="18" charset="0"/>
            </a:endParaRPr>
          </a:p>
          <a:p>
            <a:pPr marL="0" indent="0" algn="just" eaLnBrk="1" hangingPunct="1">
              <a:buFont typeface="Wingdings" panose="05000000000000000000" charset="0"/>
              <a:buNone/>
            </a:pPr>
            <a:endParaRPr lang="en-US" altLang="en-US" sz="2400" dirty="0">
              <a:latin typeface="Times New Roman" panose="02020603050405020304" pitchFamily="18" charset="0"/>
              <a:ea typeface="Times New Roman" panose="02020603050405020304" pitchFamily="18" charset="0"/>
            </a:endParaRPr>
          </a:p>
          <a:p>
            <a:pPr algn="just" eaLnBrk="1" hangingPunct="1">
              <a:buFont typeface="Wingdings" panose="05000000000000000000" charset="0"/>
              <a:buChar char="Ø"/>
            </a:pPr>
            <a:r>
              <a:rPr lang="en-US" altLang="en-US" sz="2400" dirty="0">
                <a:latin typeface="Times New Roman" panose="02020603050405020304" pitchFamily="18" charset="0"/>
                <a:ea typeface="Times New Roman" panose="02020603050405020304" pitchFamily="18" charset="0"/>
              </a:rPr>
              <a:t>The combination of multiple models improves prediction accuracy, making the system highly effective in identifying accident severity.</a:t>
            </a:r>
            <a:endParaRPr lang="en-US" altLang="en-US" sz="2400" dirty="0">
              <a:latin typeface="Times New Roman" panose="02020603050405020304" pitchFamily="18" charset="0"/>
              <a:ea typeface="Times New Roman" panose="02020603050405020304" pitchFamily="18" charset="0"/>
            </a:endParaRPr>
          </a:p>
        </p:txBody>
      </p:sp>
      <p:sp>
        <p:nvSpPr>
          <p:cNvPr id="5" name="Title 1"/>
          <p:cNvSpPr txBox="1"/>
          <p:nvPr/>
        </p:nvSpPr>
        <p:spPr>
          <a:xfrm>
            <a:off x="752475" y="311150"/>
            <a:ext cx="10531475" cy="914400"/>
          </a:xfrm>
          <a:prstGeom prst="rect">
            <a:avLst/>
          </a:prstGeom>
        </p:spPr>
        <p:txBody>
          <a:bodyPr anchor="ctr">
            <a:normAutofit/>
          </a:bodyPr>
          <a:lstStyle/>
          <a:p>
            <a:pPr marR="0" defTabSz="914400" eaLnBrk="1" fontAlgn="auto" hangingPunct="1">
              <a:lnSpc>
                <a:spcPct val="90000"/>
              </a:lnSpc>
              <a:spcAft>
                <a:spcPts val="0"/>
              </a:spcAft>
              <a:buClrTx/>
              <a:buSzTx/>
              <a:buFontTx/>
              <a:buNone/>
              <a:defRPr/>
            </a:pPr>
            <a:r>
              <a:rPr kumimoji="0" lang="en-US" sz="4000" b="1" kern="1200" cap="none" spc="0" normalizeH="0" baseline="0" noProof="0" dirty="0">
                <a:solidFill>
                  <a:schemeClr val="accent1"/>
                </a:solidFill>
                <a:latin typeface="Times New Roman" panose="02020603050405020304" pitchFamily="18" charset="0"/>
                <a:ea typeface="+mj-ea"/>
                <a:cs typeface="Times New Roman" panose="02020603050405020304" pitchFamily="18" charset="0"/>
              </a:rPr>
              <a:t>Introduction</a:t>
            </a:r>
            <a:endParaRPr kumimoji="0" lang="en-US" sz="4000" b="1" kern="1200" cap="none" spc="0" normalizeH="0" baseline="0" noProof="0" dirty="0">
              <a:solidFill>
                <a:schemeClr val="accent1"/>
              </a:solidFill>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7"/>
          <p:cNvSpPr>
            <a:spLocks noGrp="1"/>
          </p:cNvSpPr>
          <p:nvPr>
            <p:ph type="ctrTitle"/>
          </p:nvPr>
        </p:nvSpPr>
        <p:spPr>
          <a:xfrm>
            <a:off x="655638" y="0"/>
            <a:ext cx="11214100" cy="879475"/>
          </a:xfrm>
        </p:spPr>
        <p:txBody>
          <a:bodyPr vert="horz" wrap="square" lIns="91440" tIns="45720" rIns="91440" bIns="45720" anchor="b" anchorCtr="0"/>
          <a:p>
            <a:pPr eaLnBrk="1" hangingPunct="1">
              <a:buClrTx/>
              <a:buSzTx/>
              <a:buFontTx/>
            </a:pPr>
            <a:r>
              <a:rPr lang="en-IN" altLang="en-US" sz="4000" kern="1200" dirty="0">
                <a:solidFill>
                  <a:srgbClr val="002060"/>
                </a:solidFill>
                <a:latin typeface="Times New Roman" panose="02020603050405020304" pitchFamily="18" charset="0"/>
                <a:ea typeface="Times New Roman" panose="02020603050405020304" pitchFamily="18" charset="0"/>
                <a:cs typeface="+mj-cs"/>
              </a:rPr>
              <a:t>Literature Survey</a:t>
            </a:r>
            <a:endParaRPr lang="en-IN" altLang="en-US" sz="4000" kern="1200" dirty="0">
              <a:solidFill>
                <a:srgbClr val="002060"/>
              </a:solidFill>
              <a:latin typeface="Times New Roman" panose="02020603050405020304" pitchFamily="18" charset="0"/>
              <a:ea typeface="Times New Roman" panose="02020603050405020304" pitchFamily="18" charset="0"/>
              <a:cs typeface="+mj-cs"/>
            </a:endParaRPr>
          </a:p>
        </p:txBody>
      </p:sp>
      <p:sp>
        <p:nvSpPr>
          <p:cNvPr id="9219" name="Slide Number Placeholder 1"/>
          <p:cNvSpPr txBox="1">
            <a:spLocks noGrp="1"/>
          </p:cNvSpPr>
          <p:nvPr>
            <p:ph type="sldNum" sz="quarter" idx="12"/>
          </p:nvPr>
        </p:nvSpPr>
        <p:spPr>
          <a:xfrm>
            <a:off x="9448800" y="0"/>
            <a:ext cx="2743200" cy="365125"/>
          </a:xfrm>
          <a:noFill/>
          <a:ln>
            <a:noFill/>
          </a:ln>
        </p:spPr>
        <p:txBody>
          <a:bodyPr anchor="ctr" anchorCtr="0"/>
          <a:p>
            <a:pPr marL="0" indent="0" algn="r" eaLnBrk="1" hangingPunct="1">
              <a:lnSpc>
                <a:spcPct val="100000"/>
              </a:lnSpc>
              <a:spcBef>
                <a:spcPct val="0"/>
              </a:spcBef>
              <a:buFontTx/>
              <a:buNone/>
            </a:pPr>
            <a:fld id="{9A0DB2DC-4C9A-4742-B13C-FB6460FD3503}" type="slidenum">
              <a:rPr lang="en-IN" altLang="en-US" sz="1600" dirty="0">
                <a:solidFill>
                  <a:srgbClr val="898989"/>
                </a:solidFill>
                <a:latin typeface="Times New Roman" panose="02020603050405020304" pitchFamily="18" charset="0"/>
                <a:cs typeface="Times New Roman" panose="02020603050405020304" pitchFamily="18" charset="0"/>
              </a:rPr>
            </a:fld>
            <a:endParaRPr lang="en-IN" altLang="en-US" sz="1600" dirty="0">
              <a:solidFill>
                <a:srgbClr val="898989"/>
              </a:solidFill>
              <a:latin typeface="Times New Roman" panose="02020603050405020304" pitchFamily="18" charset="0"/>
              <a:ea typeface="Times New Roman" panose="02020603050405020304" pitchFamily="18" charset="0"/>
              <a:cs typeface="Times New Roman" panose="02020603050405020304" pitchFamily="18" charset="0"/>
            </a:endParaRPr>
          </a:p>
        </p:txBody>
      </p:sp>
      <p:graphicFrame>
        <p:nvGraphicFramePr>
          <p:cNvPr id="14" name="Table 13"/>
          <p:cNvGraphicFramePr>
            <a:graphicFrameLocks noGrp="1"/>
          </p:cNvGraphicFramePr>
          <p:nvPr/>
        </p:nvGraphicFramePr>
        <p:xfrm>
          <a:off x="347028" y="1111250"/>
          <a:ext cx="11487808" cy="5400675"/>
        </p:xfrm>
        <a:graphic>
          <a:graphicData uri="http://schemas.openxmlformats.org/drawingml/2006/table">
            <a:tbl>
              <a:tblPr/>
              <a:tblGrid>
                <a:gridCol w="710565"/>
                <a:gridCol w="2719602"/>
                <a:gridCol w="2957412"/>
                <a:gridCol w="2765424"/>
                <a:gridCol w="2334805"/>
              </a:tblGrid>
              <a:tr h="1138273">
                <a:tc>
                  <a:txBody>
                    <a:bodyPr/>
                    <a:lstStyle/>
                    <a:p>
                      <a:pPr algn="ctr" fontAlgn="ctr"/>
                      <a:r>
                        <a:rPr lang="en-IN" sz="2000" b="1" u="none" strike="noStrike" dirty="0">
                          <a:solidFill>
                            <a:srgbClr val="00B050"/>
                          </a:solidFill>
                          <a:effectLst/>
                        </a:rPr>
                        <a:t>Ref. No.</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1" marB="0" anchor="ctr"/>
                </a:tc>
                <a:tc>
                  <a:txBody>
                    <a:bodyPr/>
                    <a:lstStyle/>
                    <a:p>
                      <a:pPr algn="ctr" fontAlgn="ctr"/>
                      <a:r>
                        <a:rPr lang="en-IN" sz="2000" b="1" u="none" strike="noStrike" dirty="0">
                          <a:solidFill>
                            <a:srgbClr val="00B050"/>
                          </a:solidFill>
                          <a:effectLst/>
                        </a:rPr>
                        <a:t>Title</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1" marB="0" anchor="ctr"/>
                </a:tc>
                <a:tc>
                  <a:txBody>
                    <a:bodyPr/>
                    <a:lstStyle/>
                    <a:p>
                      <a:pPr algn="ctr" fontAlgn="ctr"/>
                      <a:r>
                        <a:rPr lang="en-IN" sz="2000" b="1" u="none" strike="noStrike" dirty="0">
                          <a:solidFill>
                            <a:srgbClr val="00B050"/>
                          </a:solidFill>
                          <a:effectLst/>
                        </a:rPr>
                        <a:t>Objective</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1" marB="0" anchor="ctr"/>
                </a:tc>
                <a:tc>
                  <a:txBody>
                    <a:bodyPr/>
                    <a:lstStyle/>
                    <a:p>
                      <a:pPr algn="ctr" fontAlgn="ctr"/>
                      <a:r>
                        <a:rPr lang="en-IN" sz="2000" b="1" u="none" strike="noStrike" dirty="0">
                          <a:solidFill>
                            <a:srgbClr val="00B050"/>
                          </a:solidFill>
                          <a:effectLst/>
                        </a:rPr>
                        <a:t>Method/ Algorithm used</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1" marB="0" anchor="ctr"/>
                </a:tc>
                <a:tc>
                  <a:txBody>
                    <a:bodyPr/>
                    <a:lstStyle/>
                    <a:p>
                      <a:pPr algn="ctr" fontAlgn="ctr"/>
                      <a:r>
                        <a:rPr lang="en-IN" sz="2000" b="1" i="0" u="none" strike="noStrike" dirty="0">
                          <a:solidFill>
                            <a:srgbClr val="00B050"/>
                          </a:solidFill>
                          <a:effectLst/>
                          <a:latin typeface="Times New Roman" panose="02020603050405020304" pitchFamily="18" charset="0"/>
                          <a:cs typeface="Times New Roman" panose="02020603050405020304" pitchFamily="18" charset="0"/>
                        </a:rPr>
                        <a:t>Year</a:t>
                      </a:r>
                      <a:r>
                        <a:rPr lang="en-IN" sz="2000" b="1" i="0" u="none" strike="noStrike" baseline="0" dirty="0">
                          <a:solidFill>
                            <a:srgbClr val="00B050"/>
                          </a:solidFill>
                          <a:effectLst/>
                          <a:latin typeface="Times New Roman" panose="02020603050405020304" pitchFamily="18" charset="0"/>
                          <a:cs typeface="Times New Roman" panose="02020603050405020304" pitchFamily="18" charset="0"/>
                        </a:rPr>
                        <a:t> of publication</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1" marB="0" anchor="ctr"/>
                </a:tc>
              </a:tr>
              <a:tr h="1894579">
                <a:tc>
                  <a:txBody>
                    <a:bodyPr/>
                    <a:lstStyle/>
                    <a:p>
                      <a:r>
                        <a:rPr lang="en-US" sz="1800" dirty="0"/>
                        <a:t>     1</a:t>
                      </a:r>
                      <a:endParaRPr lang="en-US" sz="1800" dirty="0"/>
                    </a:p>
                  </a:txBody>
                  <a:tcPr marL="4831" marR="4831" marT="4831" marB="0" anchor="ctr"/>
                </a:tc>
                <a:tc>
                  <a:txBody>
                    <a:bodyPr/>
                    <a:lstStyle/>
                    <a:p>
                      <a:r>
                        <a:rPr lang="en-US" altLang="en-US" sz="1800" dirty="0"/>
                        <a:t>BConvLSTM: A Deep Learning-Based Technique for Severity Prediction of a Traffic Crash</a:t>
                      </a:r>
                      <a:endParaRPr lang="en-US" altLang="en-US" sz="1800" dirty="0"/>
                    </a:p>
                  </a:txBody>
                  <a:tcPr marL="4831" marR="4831" marT="4831" marB="0" anchor="ctr"/>
                </a:tc>
                <a:tc>
                  <a:txBody>
                    <a:bodyPr/>
                    <a:lstStyle/>
                    <a:p>
                      <a:r>
                        <a:rPr lang="en-US" altLang="en-US" sz="1800" dirty="0"/>
                        <a:t>To develop a deep learning framework for predicting traffic crash severity by processing input data through a preprocessing step.</a:t>
                      </a:r>
                      <a:endParaRPr lang="en-US" altLang="en-US" sz="1800" dirty="0"/>
                    </a:p>
                  </a:txBody>
                  <a:tcPr marL="4831" marR="4831" marT="4831" marB="0" anchor="ctr"/>
                </a:tc>
                <a:tc>
                  <a:txBody>
                    <a:bodyPr/>
                    <a:lstStyle/>
                    <a:p>
                      <a:r>
                        <a:rPr lang="en-US" altLang="en-US" sz="1800" dirty="0"/>
                        <a:t>Bi-directional Convolutional Long Short-Term Memory (BConvLSTM)</a:t>
                      </a:r>
                      <a:endParaRPr lang="en-US" altLang="en-US" sz="1800" dirty="0"/>
                    </a:p>
                  </a:txBody>
                  <a:tcPr marL="4831" marR="4831" marT="4831" marB="0" anchor="ct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2024</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831" marR="4831" marT="4831" marB="0" anchor="ctr"/>
                </a:tc>
              </a:tr>
              <a:tr h="2367822">
                <a:tc>
                  <a:txBody>
                    <a:bodyPr/>
                    <a:lstStyle/>
                    <a:p>
                      <a:pPr algn="ctr" fontAlgn="ctr"/>
                      <a:r>
                        <a:rPr lang="en-IN" sz="1600" b="0" i="0" u="none" strike="noStrike" dirty="0">
                          <a:solidFill>
                            <a:srgbClr val="000000"/>
                          </a:solidFill>
                          <a:effectLst/>
                          <a:latin typeface="Times New Roman" panose="02020603050405020304" pitchFamily="18" charset="0"/>
                          <a:cs typeface="Times New Roman" panose="02020603050405020304" pitchFamily="18" charset="0"/>
                        </a:rPr>
                        <a:t>2</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831" marR="4831" marT="4831" marB="0" anchor="ctr"/>
                </a:tc>
                <a:tc>
                  <a:txBody>
                    <a:bodyPr/>
                    <a:lstStyle/>
                    <a:p>
                      <a:endParaRPr lang="en-US" altLang="en-US" sz="1800" dirty="0"/>
                    </a:p>
                    <a:p>
                      <a:r>
                        <a:rPr lang="en-US" altLang="en-US" sz="1800" dirty="0"/>
                        <a:t>Evaluating the Effectiveness of Machine Learning Techniques in Forecasting the Severity of Traffic Accidents</a:t>
                      </a:r>
                      <a:endParaRPr lang="en-US" altLang="en-US" sz="1800" dirty="0"/>
                    </a:p>
                  </a:txBody>
                  <a:tcPr marL="68577" marR="68577" marT="0" marB="0"/>
                </a:tc>
                <a:tc>
                  <a:txBody>
                    <a:bodyPr/>
                    <a:lstStyle/>
                    <a:p>
                      <a:endParaRPr lang="en-US" sz="1800" dirty="0"/>
                    </a:p>
                    <a:p>
                      <a:r>
                        <a:rPr lang="en-US" altLang="en-US" sz="1800" dirty="0"/>
                        <a:t>To assess various machine learning models in predicting traffic accident severity based on contributing factors.</a:t>
                      </a:r>
                      <a:endParaRPr lang="en-US" altLang="en-US" sz="1800" dirty="0"/>
                    </a:p>
                  </a:txBody>
                  <a:tcPr marL="68577" marR="68577" marT="0" marB="0"/>
                </a:tc>
                <a:tc>
                  <a:txBody>
                    <a:bodyPr/>
                    <a:lstStyle/>
                    <a:p>
                      <a:pPr algn="ctr"/>
                      <a:endParaRPr lang="en-US" altLang="en-US" sz="1600" b="0" dirty="0">
                        <a:latin typeface="Times New Roman" panose="02020603050405020304" pitchFamily="18" charset="0"/>
                        <a:cs typeface="Times New Roman" panose="02020603050405020304" pitchFamily="18" charset="0"/>
                      </a:endParaRPr>
                    </a:p>
                    <a:p>
                      <a:pPr algn="ctr"/>
                      <a:endParaRPr lang="en-US" altLang="en-US" sz="1600" b="0" dirty="0">
                        <a:latin typeface="Times New Roman" panose="02020603050405020304" pitchFamily="18" charset="0"/>
                        <a:cs typeface="Times New Roman" panose="02020603050405020304" pitchFamily="18" charset="0"/>
                      </a:endParaRPr>
                    </a:p>
                    <a:p>
                      <a:pPr algn="ctr"/>
                      <a:r>
                        <a:rPr lang="en-US" altLang="en-US" sz="1600" b="0" dirty="0">
                          <a:latin typeface="Times New Roman" panose="02020603050405020304" pitchFamily="18" charset="0"/>
                          <a:cs typeface="Times New Roman" panose="02020603050405020304" pitchFamily="18" charset="0"/>
                        </a:rPr>
                        <a:t>Naive Bayes, Random Forest, Logistic Regression, Artificial Neural Networks</a:t>
                      </a:r>
                      <a:endParaRPr lang="en-US" altLang="en-US" sz="1600" b="0" dirty="0">
                        <a:latin typeface="Times New Roman" panose="02020603050405020304" pitchFamily="18" charset="0"/>
                        <a:cs typeface="Times New Roman" panose="02020603050405020304" pitchFamily="18" charset="0"/>
                      </a:endParaRPr>
                    </a:p>
                  </a:txBody>
                  <a:tcPr marL="68577" marR="68577" marT="0" marB="0"/>
                </a:tc>
                <a:tc>
                  <a:txBody>
                    <a:bodyPr/>
                    <a:lstStyle/>
                    <a:p>
                      <a:pPr marL="0" marR="0" algn="ctr">
                        <a:lnSpc>
                          <a:spcPct val="115000"/>
                        </a:lnSpc>
                        <a:spcBef>
                          <a:spcPts val="0"/>
                        </a:spcBef>
                        <a:spcAft>
                          <a:spcPts val="0"/>
                        </a:spcAft>
                      </a:pPr>
                      <a:endParaRPr lang="en-IN" sz="1600" b="0" dirty="0">
                        <a:latin typeface="Times New Roman" panose="02020603050405020304" pitchFamily="18" charset="0"/>
                        <a:ea typeface="Calibri" panose="020F0502020204030204"/>
                        <a:cs typeface="Times New Roman" panose="02020603050405020304" pitchFamily="18" charset="0"/>
                      </a:endParaRPr>
                    </a:p>
                    <a:p>
                      <a:pPr marL="0" marR="0" algn="ctr">
                        <a:lnSpc>
                          <a:spcPct val="115000"/>
                        </a:lnSpc>
                        <a:spcBef>
                          <a:spcPts val="0"/>
                        </a:spcBef>
                        <a:spcAft>
                          <a:spcPts val="0"/>
                        </a:spcAft>
                      </a:pPr>
                      <a:r>
                        <a:rPr lang="en-IN" sz="1600" b="0" dirty="0">
                          <a:latin typeface="Times New Roman" panose="02020603050405020304" pitchFamily="18" charset="0"/>
                          <a:ea typeface="Calibri" panose="020F0502020204030204"/>
                          <a:cs typeface="Times New Roman" panose="02020603050405020304" pitchFamily="18" charset="0"/>
                        </a:rPr>
                        <a:t>2023</a:t>
                      </a:r>
                      <a:endParaRPr lang="en-IN" sz="1600" b="0" dirty="0">
                        <a:latin typeface="Times New Roman" panose="02020603050405020304" pitchFamily="18" charset="0"/>
                        <a:ea typeface="Calibri" panose="020F0502020204030204"/>
                        <a:cs typeface="Times New Roman" panose="02020603050405020304" pitchFamily="18" charset="0"/>
                      </a:endParaRPr>
                    </a:p>
                  </a:txBody>
                  <a:tcPr marL="68577" marR="68577" marT="0" marB="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itle 7"/>
          <p:cNvSpPr>
            <a:spLocks noGrp="1"/>
          </p:cNvSpPr>
          <p:nvPr>
            <p:ph type="ctrTitle"/>
          </p:nvPr>
        </p:nvSpPr>
        <p:spPr>
          <a:xfrm>
            <a:off x="655638" y="0"/>
            <a:ext cx="11214100" cy="949325"/>
          </a:xfrm>
        </p:spPr>
        <p:txBody>
          <a:bodyPr vert="horz" wrap="square" lIns="91440" tIns="45720" rIns="91440" bIns="45720" anchor="b" anchorCtr="0"/>
          <a:p>
            <a:pPr algn="l" eaLnBrk="1" hangingPunct="1">
              <a:buClrTx/>
              <a:buSzTx/>
              <a:buFontTx/>
            </a:pPr>
            <a:r>
              <a:rPr lang="en-IN" altLang="en-US" sz="4000" kern="1200" dirty="0">
                <a:solidFill>
                  <a:srgbClr val="002060"/>
                </a:solidFill>
                <a:latin typeface="Times New Roman" panose="02020603050405020304" pitchFamily="18" charset="0"/>
                <a:ea typeface="Times New Roman" panose="02020603050405020304" pitchFamily="18" charset="0"/>
                <a:cs typeface="+mj-cs"/>
              </a:rPr>
              <a:t>                      Literature Survey</a:t>
            </a:r>
            <a:endParaRPr lang="en-IN" altLang="en-US" sz="4000" kern="1200" dirty="0">
              <a:solidFill>
                <a:srgbClr val="002060"/>
              </a:solidFill>
              <a:latin typeface="Times New Roman" panose="02020603050405020304" pitchFamily="18" charset="0"/>
              <a:ea typeface="Times New Roman" panose="02020603050405020304" pitchFamily="18" charset="0"/>
              <a:cs typeface="+mj-cs"/>
            </a:endParaRPr>
          </a:p>
        </p:txBody>
      </p:sp>
      <p:graphicFrame>
        <p:nvGraphicFramePr>
          <p:cNvPr id="14" name="Table 13"/>
          <p:cNvGraphicFramePr>
            <a:graphicFrameLocks noGrp="1"/>
          </p:cNvGraphicFramePr>
          <p:nvPr/>
        </p:nvGraphicFramePr>
        <p:xfrm>
          <a:off x="276543" y="998538"/>
          <a:ext cx="11593513" cy="5538788"/>
        </p:xfrm>
        <a:graphic>
          <a:graphicData uri="http://schemas.openxmlformats.org/drawingml/2006/table">
            <a:tbl>
              <a:tblPr/>
              <a:tblGrid>
                <a:gridCol w="686332"/>
                <a:gridCol w="2752391"/>
                <a:gridCol w="2993068"/>
                <a:gridCol w="2798765"/>
                <a:gridCol w="2362956"/>
              </a:tblGrid>
              <a:tr h="1175038">
                <a:tc>
                  <a:txBody>
                    <a:bodyPr/>
                    <a:lstStyle/>
                    <a:p>
                      <a:pPr algn="ctr" fontAlgn="ctr"/>
                      <a:r>
                        <a:rPr lang="en-IN" sz="2000" b="1" u="none" strike="noStrike" dirty="0">
                          <a:solidFill>
                            <a:srgbClr val="00B050"/>
                          </a:solidFill>
                          <a:effectLst/>
                        </a:rPr>
                        <a:t>Ref. No.</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2" marB="0" anchor="ctr"/>
                </a:tc>
                <a:tc>
                  <a:txBody>
                    <a:bodyPr/>
                    <a:lstStyle/>
                    <a:p>
                      <a:pPr algn="ctr" fontAlgn="ctr"/>
                      <a:r>
                        <a:rPr lang="en-IN" sz="2000" b="1" u="none" strike="noStrike" dirty="0">
                          <a:solidFill>
                            <a:srgbClr val="00B050"/>
                          </a:solidFill>
                          <a:effectLst/>
                        </a:rPr>
                        <a:t>Title</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2" marB="0" anchor="ctr"/>
                </a:tc>
                <a:tc>
                  <a:txBody>
                    <a:bodyPr/>
                    <a:lstStyle/>
                    <a:p>
                      <a:pPr algn="ctr" fontAlgn="ctr"/>
                      <a:r>
                        <a:rPr lang="en-IN" sz="2000" b="1" u="none" strike="noStrike" dirty="0">
                          <a:solidFill>
                            <a:srgbClr val="00B050"/>
                          </a:solidFill>
                          <a:effectLst/>
                        </a:rPr>
                        <a:t>Objective</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2" marB="0" anchor="ctr"/>
                </a:tc>
                <a:tc>
                  <a:txBody>
                    <a:bodyPr/>
                    <a:lstStyle/>
                    <a:p>
                      <a:pPr algn="ctr" fontAlgn="ctr"/>
                      <a:r>
                        <a:rPr lang="en-IN" sz="2000" b="1" u="none" strike="noStrike" dirty="0">
                          <a:solidFill>
                            <a:srgbClr val="00B050"/>
                          </a:solidFill>
                          <a:effectLst/>
                        </a:rPr>
                        <a:t>Method/ Algorithm used</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2" marB="0" anchor="ctr"/>
                </a:tc>
                <a:tc>
                  <a:txBody>
                    <a:bodyPr/>
                    <a:lstStyle/>
                    <a:p>
                      <a:pPr algn="ctr" fontAlgn="ctr"/>
                      <a:r>
                        <a:rPr lang="en-IN" sz="2000" b="1" i="0" u="none" strike="noStrike" dirty="0">
                          <a:solidFill>
                            <a:srgbClr val="00B050"/>
                          </a:solidFill>
                          <a:effectLst/>
                          <a:latin typeface="Times New Roman" panose="02020603050405020304" pitchFamily="18" charset="0"/>
                          <a:cs typeface="Times New Roman" panose="02020603050405020304" pitchFamily="18" charset="0"/>
                        </a:rPr>
                        <a:t>Year</a:t>
                      </a:r>
                      <a:r>
                        <a:rPr lang="en-IN" sz="2000" b="1" i="0" u="none" strike="noStrike" baseline="0" dirty="0">
                          <a:solidFill>
                            <a:srgbClr val="00B050"/>
                          </a:solidFill>
                          <a:effectLst/>
                          <a:latin typeface="Times New Roman" panose="02020603050405020304" pitchFamily="18" charset="0"/>
                          <a:cs typeface="Times New Roman" panose="02020603050405020304" pitchFamily="18" charset="0"/>
                        </a:rPr>
                        <a:t> of publication</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2" marB="0" anchor="ctr"/>
                </a:tc>
              </a:tr>
              <a:tr h="1919448">
                <a:tc>
                  <a:txBody>
                    <a:bodyPr/>
                    <a:lstStyle/>
                    <a:p>
                      <a:pPr algn="ctr" fontAlgn="ctr"/>
                      <a:r>
                        <a:rPr lang="en-IN" sz="1600" b="0" i="0" u="none" strike="noStrike" dirty="0">
                          <a:solidFill>
                            <a:srgbClr val="000000"/>
                          </a:solidFill>
                          <a:effectLst/>
                          <a:latin typeface="Times New Roman" panose="02020603050405020304" pitchFamily="18" charset="0"/>
                          <a:cs typeface="Times New Roman" panose="02020603050405020304" pitchFamily="18" charset="0"/>
                        </a:rPr>
                        <a:t>3</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831" marR="4831" marT="4832" marB="0" anchor="ctr"/>
                </a:tc>
                <a:tc>
                  <a:txBody>
                    <a:bodyPr/>
                    <a:lstStyle/>
                    <a:p>
                      <a:r>
                        <a:rPr lang="en-US" altLang="en-US" sz="1800" dirty="0"/>
                        <a:t>Deep Learning for Traffic Prediction and Trend Deviation Identification: A Case Study in Hong Kong</a:t>
                      </a:r>
                      <a:endParaRPr lang="en-US" altLang="en-US" sz="1800" dirty="0"/>
                    </a:p>
                  </a:txBody>
                  <a:tcPr marL="4831" marR="4831" marT="4832" marB="0" anchor="ctr"/>
                </a:tc>
                <a:tc>
                  <a:txBody>
                    <a:bodyPr/>
                    <a:lstStyle/>
                    <a:p>
                      <a:endParaRPr lang="en-US" altLang="en-US" sz="1800" dirty="0"/>
                    </a:p>
                    <a:p>
                      <a:r>
                        <a:rPr lang="en-US" altLang="en-US" sz="1800" dirty="0"/>
                        <a:t>To introduce a robust methodology for predicting traffic volume and speed on major strategic routes using deep learning models.</a:t>
                      </a:r>
                      <a:endParaRPr lang="en-US" altLang="en-US" sz="1800" dirty="0"/>
                    </a:p>
                  </a:txBody>
                  <a:tcPr marL="4831" marR="4831" marT="4832" marB="0" anchor="ctr"/>
                </a:tc>
                <a:tc>
                  <a:txBody>
                    <a:bodyPr/>
                    <a:lstStyle/>
                    <a:p>
                      <a:r>
                        <a:rPr lang="en-US" altLang="en-US" sz="1800" dirty="0"/>
                        <a:t>Convolutional Neural Network (CNN) and Long Short-Term Memory (LSTM)</a:t>
                      </a:r>
                      <a:endParaRPr lang="en-US" altLang="en-US" sz="1800" dirty="0"/>
                    </a:p>
                  </a:txBody>
                  <a:tcPr marL="4831" marR="4831" marT="4832" marB="0" anchor="ct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202</a:t>
                      </a:r>
                      <a:r>
                        <a:rPr lang="en-IN" altLang="en-US" sz="1600" b="0" i="0" u="none" strike="noStrike" dirty="0">
                          <a:solidFill>
                            <a:srgbClr val="000000"/>
                          </a:solidFill>
                          <a:effectLst/>
                          <a:latin typeface="Times New Roman" panose="02020603050405020304" pitchFamily="18" charset="0"/>
                          <a:cs typeface="Times New Roman" panose="02020603050405020304" pitchFamily="18" charset="0"/>
                        </a:rPr>
                        <a:t>3</a:t>
                      </a:r>
                      <a:endParaRPr lang="en-IN" alt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831" marR="4831" marT="4832" marB="0" anchor="ctr"/>
                </a:tc>
              </a:tr>
              <a:tr h="2444301">
                <a:tc>
                  <a:txBody>
                    <a:bodyPr/>
                    <a:lstStyle/>
                    <a:p>
                      <a:pPr algn="ctr" fontAlgn="ctr"/>
                      <a:r>
                        <a:rPr lang="en-IN" sz="1600" b="0" i="0" u="none" strike="noStrike" dirty="0">
                          <a:solidFill>
                            <a:srgbClr val="000000"/>
                          </a:solidFill>
                          <a:effectLst/>
                          <a:latin typeface="Times New Roman" panose="02020603050405020304" pitchFamily="18" charset="0"/>
                          <a:cs typeface="Times New Roman" panose="02020603050405020304" pitchFamily="18" charset="0"/>
                        </a:rPr>
                        <a:t>4</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831" marR="4831" marT="4832" marB="0" anchor="ctr"/>
                </a:tc>
                <a:tc>
                  <a:txBody>
                    <a:bodyPr/>
                    <a:lstStyle/>
                    <a:p>
                      <a:endParaRPr lang="en-US" altLang="en-US" sz="1800" dirty="0"/>
                    </a:p>
                    <a:p>
                      <a:endParaRPr lang="en-US" altLang="en-US" sz="1800" dirty="0"/>
                    </a:p>
                    <a:p>
                      <a:r>
                        <a:rPr lang="en-US" altLang="en-US" sz="1800" dirty="0"/>
                        <a:t>Road Accident Severity Prediction Using Machine Learning Algorithms</a:t>
                      </a:r>
                      <a:endParaRPr lang="en-US" altLang="en-US" sz="1800" dirty="0"/>
                    </a:p>
                  </a:txBody>
                  <a:tcPr marL="68578" marR="68578" marT="0" marB="0"/>
                </a:tc>
                <a:tc>
                  <a:txBody>
                    <a:bodyPr/>
                    <a:lstStyle/>
                    <a:p>
                      <a:endParaRPr lang="en-US" sz="1800" dirty="0"/>
                    </a:p>
                    <a:p>
                      <a:r>
                        <a:rPr lang="en-US" altLang="en-US" sz="1800" dirty="0"/>
                        <a:t>To develop a predictive model for accident severity using a combination of machine learning algorithms and analyze traffic data to identify factors influencing road accidents.</a:t>
                      </a:r>
                      <a:endParaRPr lang="en-US" altLang="en-US" sz="1800" dirty="0"/>
                    </a:p>
                  </a:txBody>
                  <a:tcPr marL="68578" marR="68578" marT="0" marB="0"/>
                </a:tc>
                <a:tc>
                  <a:txBody>
                    <a:bodyPr/>
                    <a:lstStyle/>
                    <a:p>
                      <a:endParaRPr lang="en-US" sz="1800" dirty="0"/>
                    </a:p>
                    <a:p>
                      <a:endParaRPr lang="en-US" sz="1800" dirty="0"/>
                    </a:p>
                    <a:p>
                      <a:r>
                        <a:rPr lang="en-US" altLang="en-US" sz="1800" dirty="0"/>
                        <a:t>Logistic Regression, Decision Tree, Random Forest Classifier</a:t>
                      </a:r>
                      <a:endParaRPr lang="en-US" altLang="en-US" sz="1800" dirty="0"/>
                    </a:p>
                  </a:txBody>
                  <a:tcPr marL="68578" marR="68578" marT="0" marB="0"/>
                </a:tc>
                <a:tc>
                  <a:txBody>
                    <a:bodyPr/>
                    <a:lstStyle/>
                    <a:p>
                      <a:pPr marL="0" marR="0" algn="ctr">
                        <a:lnSpc>
                          <a:spcPct val="115000"/>
                        </a:lnSpc>
                        <a:spcBef>
                          <a:spcPts val="0"/>
                        </a:spcBef>
                        <a:spcAft>
                          <a:spcPts val="0"/>
                        </a:spcAft>
                      </a:pPr>
                      <a:endParaRPr lang="en-IN" sz="1600" b="0" dirty="0">
                        <a:latin typeface="Times New Roman" panose="02020603050405020304" pitchFamily="18" charset="0"/>
                        <a:ea typeface="Calibri" panose="020F0502020204030204"/>
                        <a:cs typeface="Times New Roman" panose="02020603050405020304" pitchFamily="18" charset="0"/>
                      </a:endParaRPr>
                    </a:p>
                    <a:p>
                      <a:pPr marL="0" marR="0" algn="ctr">
                        <a:lnSpc>
                          <a:spcPct val="115000"/>
                        </a:lnSpc>
                        <a:spcBef>
                          <a:spcPts val="0"/>
                        </a:spcBef>
                        <a:spcAft>
                          <a:spcPts val="0"/>
                        </a:spcAft>
                      </a:pPr>
                      <a:r>
                        <a:rPr lang="en-IN" sz="1600" b="0" dirty="0">
                          <a:latin typeface="Times New Roman" panose="02020603050405020304" pitchFamily="18" charset="0"/>
                          <a:ea typeface="Calibri" panose="020F0502020204030204"/>
                          <a:cs typeface="Times New Roman" panose="02020603050405020304" pitchFamily="18" charset="0"/>
                        </a:rPr>
                        <a:t>2021</a:t>
                      </a:r>
                      <a:endParaRPr lang="en-IN" sz="1600" b="0" dirty="0">
                        <a:latin typeface="Times New Roman" panose="02020603050405020304" pitchFamily="18" charset="0"/>
                        <a:ea typeface="Calibri" panose="020F0502020204030204"/>
                        <a:cs typeface="Times New Roman" panose="02020603050405020304" pitchFamily="18" charset="0"/>
                      </a:endParaRPr>
                    </a:p>
                  </a:txBody>
                  <a:tcPr marL="68578" marR="68578" marT="0" marB="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7"/>
          <p:cNvSpPr>
            <a:spLocks noGrp="1"/>
          </p:cNvSpPr>
          <p:nvPr>
            <p:ph type="ctrTitle"/>
          </p:nvPr>
        </p:nvSpPr>
        <p:spPr>
          <a:xfrm>
            <a:off x="776288" y="258763"/>
            <a:ext cx="11093450" cy="811212"/>
          </a:xfrm>
        </p:spPr>
        <p:txBody>
          <a:bodyPr vert="horz" wrap="square" lIns="91440" tIns="45720" rIns="91440" bIns="45720" anchor="b" anchorCtr="0"/>
          <a:p>
            <a:pPr algn="l" eaLnBrk="1" hangingPunct="1">
              <a:buClrTx/>
              <a:buSzTx/>
              <a:buFontTx/>
            </a:pPr>
            <a:r>
              <a:rPr lang="en-IN" altLang="en-US" sz="4000" kern="1200" dirty="0">
                <a:solidFill>
                  <a:srgbClr val="002060"/>
                </a:solidFill>
                <a:latin typeface="Times New Roman" panose="02020603050405020304" pitchFamily="18" charset="0"/>
                <a:ea typeface="Times New Roman" panose="02020603050405020304" pitchFamily="18" charset="0"/>
                <a:cs typeface="+mj-cs"/>
              </a:rPr>
              <a:t>                    Literature Survey</a:t>
            </a:r>
            <a:endParaRPr lang="en-IN" altLang="en-US" sz="4000" kern="1200" dirty="0">
              <a:solidFill>
                <a:srgbClr val="002060"/>
              </a:solidFill>
              <a:latin typeface="Times New Roman" panose="02020603050405020304" pitchFamily="18" charset="0"/>
              <a:ea typeface="Times New Roman" panose="02020603050405020304" pitchFamily="18" charset="0"/>
              <a:cs typeface="+mj-cs"/>
            </a:endParaRPr>
          </a:p>
        </p:txBody>
      </p:sp>
      <p:sp>
        <p:nvSpPr>
          <p:cNvPr id="13315" name="Slide Number Placeholder 1"/>
          <p:cNvSpPr txBox="1">
            <a:spLocks noGrp="1"/>
          </p:cNvSpPr>
          <p:nvPr>
            <p:ph type="sldNum" sz="quarter" idx="12"/>
          </p:nvPr>
        </p:nvSpPr>
        <p:spPr>
          <a:xfrm>
            <a:off x="9448800" y="0"/>
            <a:ext cx="2743200" cy="365125"/>
          </a:xfrm>
          <a:noFill/>
          <a:ln>
            <a:noFill/>
          </a:ln>
        </p:spPr>
        <p:txBody>
          <a:bodyPr anchor="ctr" anchorCtr="0"/>
          <a:p>
            <a:pPr marL="0" indent="0" algn="r" eaLnBrk="1" hangingPunct="1">
              <a:lnSpc>
                <a:spcPct val="100000"/>
              </a:lnSpc>
              <a:spcBef>
                <a:spcPct val="0"/>
              </a:spcBef>
              <a:buFontTx/>
              <a:buNone/>
            </a:pPr>
            <a:fld id="{9A0DB2DC-4C9A-4742-B13C-FB6460FD3503}" type="slidenum">
              <a:rPr lang="en-IN" altLang="en-US" sz="1600" dirty="0">
                <a:solidFill>
                  <a:srgbClr val="898989"/>
                </a:solidFill>
                <a:latin typeface="Times New Roman" panose="02020603050405020304" pitchFamily="18" charset="0"/>
                <a:cs typeface="Times New Roman" panose="02020603050405020304" pitchFamily="18" charset="0"/>
              </a:rPr>
            </a:fld>
            <a:endParaRPr lang="en-IN" altLang="en-US" sz="1600" dirty="0">
              <a:solidFill>
                <a:srgbClr val="898989"/>
              </a:solidFill>
              <a:latin typeface="Times New Roman" panose="02020603050405020304" pitchFamily="18" charset="0"/>
              <a:ea typeface="Times New Roman" panose="02020603050405020304" pitchFamily="18" charset="0"/>
              <a:cs typeface="Times New Roman" panose="02020603050405020304" pitchFamily="18" charset="0"/>
            </a:endParaRPr>
          </a:p>
        </p:txBody>
      </p:sp>
      <p:graphicFrame>
        <p:nvGraphicFramePr>
          <p:cNvPr id="14" name="Table 13"/>
          <p:cNvGraphicFramePr>
            <a:graphicFrameLocks noGrp="1"/>
          </p:cNvGraphicFramePr>
          <p:nvPr/>
        </p:nvGraphicFramePr>
        <p:xfrm>
          <a:off x="431800" y="1225550"/>
          <a:ext cx="11369675" cy="5348288"/>
        </p:xfrm>
        <a:graphic>
          <a:graphicData uri="http://schemas.openxmlformats.org/drawingml/2006/table">
            <a:tbl>
              <a:tblPr/>
              <a:tblGrid>
                <a:gridCol w="673081"/>
                <a:gridCol w="2699250"/>
                <a:gridCol w="2935281"/>
                <a:gridCol w="2744728"/>
                <a:gridCol w="2317334"/>
              </a:tblGrid>
              <a:tr h="1127232">
                <a:tc>
                  <a:txBody>
                    <a:bodyPr/>
                    <a:lstStyle/>
                    <a:p>
                      <a:pPr algn="ctr" fontAlgn="ctr"/>
                      <a:r>
                        <a:rPr lang="en-IN" sz="2000" b="1" u="none" strike="noStrike" dirty="0">
                          <a:solidFill>
                            <a:srgbClr val="00B050"/>
                          </a:solidFill>
                          <a:effectLst/>
                        </a:rPr>
                        <a:t>Ref. No.</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1" marB="0" anchor="ctr"/>
                </a:tc>
                <a:tc>
                  <a:txBody>
                    <a:bodyPr/>
                    <a:lstStyle/>
                    <a:p>
                      <a:pPr algn="ctr" fontAlgn="ctr"/>
                      <a:r>
                        <a:rPr lang="en-IN" sz="2000" b="1" u="none" strike="noStrike" dirty="0">
                          <a:solidFill>
                            <a:srgbClr val="00B050"/>
                          </a:solidFill>
                          <a:effectLst/>
                        </a:rPr>
                        <a:t>Title</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1" marB="0" anchor="ctr"/>
                </a:tc>
                <a:tc>
                  <a:txBody>
                    <a:bodyPr/>
                    <a:lstStyle/>
                    <a:p>
                      <a:pPr algn="ctr" fontAlgn="ctr"/>
                      <a:r>
                        <a:rPr lang="en-IN" sz="2000" b="1" u="none" strike="noStrike" dirty="0">
                          <a:solidFill>
                            <a:srgbClr val="00B050"/>
                          </a:solidFill>
                          <a:effectLst/>
                        </a:rPr>
                        <a:t>Objective</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1" marB="0" anchor="ctr"/>
                </a:tc>
                <a:tc>
                  <a:txBody>
                    <a:bodyPr/>
                    <a:lstStyle/>
                    <a:p>
                      <a:pPr algn="ctr" fontAlgn="ctr"/>
                      <a:r>
                        <a:rPr lang="en-IN" sz="2000" b="1" u="none" strike="noStrike" dirty="0">
                          <a:solidFill>
                            <a:srgbClr val="00B050"/>
                          </a:solidFill>
                          <a:effectLst/>
                        </a:rPr>
                        <a:t>Method/ Algorithm used</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1" marB="0" anchor="ctr"/>
                </a:tc>
                <a:tc>
                  <a:txBody>
                    <a:bodyPr/>
                    <a:lstStyle/>
                    <a:p>
                      <a:pPr algn="ctr" fontAlgn="ctr"/>
                      <a:r>
                        <a:rPr lang="en-IN" sz="2000" b="1" i="0" u="none" strike="noStrike" dirty="0">
                          <a:solidFill>
                            <a:srgbClr val="00B050"/>
                          </a:solidFill>
                          <a:effectLst/>
                          <a:latin typeface="Times New Roman" panose="02020603050405020304" pitchFamily="18" charset="0"/>
                          <a:cs typeface="Times New Roman" panose="02020603050405020304" pitchFamily="18" charset="0"/>
                        </a:rPr>
                        <a:t>Year</a:t>
                      </a:r>
                      <a:r>
                        <a:rPr lang="en-IN" sz="2000" b="1" i="0" u="none" strike="noStrike" baseline="0" dirty="0">
                          <a:solidFill>
                            <a:srgbClr val="00B050"/>
                          </a:solidFill>
                          <a:effectLst/>
                          <a:latin typeface="Times New Roman" panose="02020603050405020304" pitchFamily="18" charset="0"/>
                          <a:cs typeface="Times New Roman" panose="02020603050405020304" pitchFamily="18" charset="0"/>
                        </a:rPr>
                        <a:t> of publication</a:t>
                      </a:r>
                      <a:endParaRPr lang="en-IN" sz="2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4831" marR="4831" marT="4831" marB="0" anchor="ctr"/>
                </a:tc>
              </a:tr>
              <a:tr h="1876202">
                <a:tc>
                  <a:txBody>
                    <a:bodyPr/>
                    <a:lstStyle/>
                    <a:p>
                      <a:pPr algn="ctr" fontAlgn="ctr"/>
                      <a:r>
                        <a:rPr lang="en-IN" sz="1600" b="0" i="0" u="none" strike="noStrike" dirty="0">
                          <a:solidFill>
                            <a:srgbClr val="000000"/>
                          </a:solidFill>
                          <a:effectLst/>
                          <a:latin typeface="Times New Roman" panose="02020603050405020304" pitchFamily="18" charset="0"/>
                          <a:cs typeface="Times New Roman" panose="02020603050405020304" pitchFamily="18" charset="0"/>
                        </a:rPr>
                        <a:t>5</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831" marR="4831" marT="4831" marB="0" anchor="ctr"/>
                </a:tc>
                <a:tc>
                  <a:txBody>
                    <a:bodyPr/>
                    <a:lstStyle/>
                    <a:p>
                      <a:r>
                        <a:rPr lang="en-US" altLang="en-US" sz="1800" dirty="0"/>
                        <a:t>Using Machine Learning Models to Forecast Severity Level of Traffic Crashes by R Studio and ArcGIS</a:t>
                      </a:r>
                      <a:endParaRPr lang="en-US" altLang="en-US" sz="1800" dirty="0"/>
                    </a:p>
                  </a:txBody>
                  <a:tcPr marL="4831" marR="4831" marT="4831" marB="0" anchor="ctr"/>
                </a:tc>
                <a:tc>
                  <a:txBody>
                    <a:bodyPr/>
                    <a:lstStyle/>
                    <a:p>
                      <a:r>
                        <a:rPr lang="en-US" altLang="en-US" sz="1800"/>
                        <a:t>To forecast the severity level of traffic crashes using machine learning models and geographic information system (GIS) tools.</a:t>
                      </a:r>
                      <a:endParaRPr lang="en-US" altLang="en-US" sz="1800"/>
                    </a:p>
                  </a:txBody>
                  <a:tcPr marL="4831" marR="4831" marT="4831" marB="0" anchor="ctr"/>
                </a:tc>
                <a:tc>
                  <a:txBody>
                    <a:bodyPr/>
                    <a:lstStyle/>
                    <a:p>
                      <a:r>
                        <a:rPr lang="en-US" altLang="en-US" sz="1800"/>
                        <a:t>Logistic Regression, Decision Tree, Random Forest Classifier</a:t>
                      </a:r>
                      <a:endParaRPr lang="en-US" altLang="en-US" sz="1800"/>
                    </a:p>
                  </a:txBody>
                  <a:tcPr marL="4831" marR="4831" marT="4831" marB="0" anchor="ct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2019</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831" marR="4831" marT="4831" marB="0" anchor="ctr"/>
                </a:tc>
              </a:tr>
              <a:tr h="2344854">
                <a:tc>
                  <a:txBody>
                    <a:bodyPr/>
                    <a:lstStyle/>
                    <a:p>
                      <a:pPr algn="ctr" fontAlgn="ctr"/>
                      <a:r>
                        <a:rPr lang="en-IN" sz="1600" b="0" i="0" u="none" strike="noStrike" dirty="0">
                          <a:solidFill>
                            <a:srgbClr val="000000"/>
                          </a:solidFill>
                          <a:effectLst/>
                          <a:latin typeface="Times New Roman" panose="02020603050405020304" pitchFamily="18" charset="0"/>
                          <a:cs typeface="Times New Roman" panose="02020603050405020304" pitchFamily="18" charset="0"/>
                        </a:rPr>
                        <a:t>6</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831" marR="4831" marT="4831" marB="0" anchor="ctr"/>
                </a:tc>
                <a:tc>
                  <a:txBody>
                    <a:bodyPr/>
                    <a:lstStyle/>
                    <a:p>
                      <a:endParaRPr lang="en-US" altLang="en-US" sz="1800"/>
                    </a:p>
                    <a:p>
                      <a:r>
                        <a:rPr lang="en-US" altLang="en-US" sz="1800"/>
                        <a:t>Traffic Incident Duration Prediction via a Deep Learning Framework for Text Description Encoding</a:t>
                      </a:r>
                      <a:endParaRPr lang="en-US" altLang="en-US" sz="1800"/>
                    </a:p>
                  </a:txBody>
                  <a:tcPr marL="68580" marR="68580" marT="0" marB="0"/>
                </a:tc>
                <a:tc>
                  <a:txBody>
                    <a:bodyPr/>
                    <a:lstStyle/>
                    <a:p>
                      <a:endParaRPr lang="en-US" sz="1800"/>
                    </a:p>
                    <a:p>
                      <a:r>
                        <a:rPr lang="en-US" altLang="en-US" sz="1800"/>
                        <a:t>To predict the duration of traffic incidents by integrating machine learning with traffic flow/speed and incident description as features, encoded via deep learning methods.</a:t>
                      </a:r>
                      <a:endParaRPr lang="en-US" altLang="en-US" sz="1800"/>
                    </a:p>
                  </a:txBody>
                  <a:tcPr marL="68580" marR="68580" marT="0" marB="0"/>
                </a:tc>
                <a:tc>
                  <a:txBody>
                    <a:bodyPr/>
                    <a:lstStyle/>
                    <a:p>
                      <a:endParaRPr lang="en-US" altLang="en-US" sz="1800" dirty="0"/>
                    </a:p>
                    <a:p>
                      <a:r>
                        <a:rPr lang="en-US" altLang="en-US" sz="1800" dirty="0"/>
                        <a:t>Deep Learning framework integrating ANN autoencoder and character-level LSTM-ANN sentiment classifier</a:t>
                      </a:r>
                      <a:endParaRPr lang="en-US" altLang="en-US" sz="1800" dirty="0"/>
                    </a:p>
                  </a:txBody>
                  <a:tcPr marL="68580" marR="68580" marT="0" marB="0"/>
                </a:tc>
                <a:tc>
                  <a:txBody>
                    <a:bodyPr/>
                    <a:lstStyle/>
                    <a:p>
                      <a:pPr marL="0" marR="0" algn="ctr">
                        <a:lnSpc>
                          <a:spcPct val="115000"/>
                        </a:lnSpc>
                        <a:spcBef>
                          <a:spcPts val="0"/>
                        </a:spcBef>
                        <a:spcAft>
                          <a:spcPts val="0"/>
                        </a:spcAft>
                      </a:pPr>
                      <a:endParaRPr lang="en-IN" sz="1600" b="0" dirty="0">
                        <a:latin typeface="Times New Roman" panose="02020603050405020304" pitchFamily="18" charset="0"/>
                        <a:ea typeface="Calibri" panose="020F0502020204030204"/>
                        <a:cs typeface="Times New Roman" panose="02020603050405020304" pitchFamily="18" charset="0"/>
                      </a:endParaRPr>
                    </a:p>
                    <a:p>
                      <a:pPr marL="0" marR="0" algn="ctr">
                        <a:lnSpc>
                          <a:spcPct val="115000"/>
                        </a:lnSpc>
                        <a:spcBef>
                          <a:spcPts val="0"/>
                        </a:spcBef>
                        <a:spcAft>
                          <a:spcPts val="0"/>
                        </a:spcAft>
                      </a:pPr>
                      <a:r>
                        <a:rPr lang="en-IN" sz="1600" b="0" dirty="0">
                          <a:latin typeface="Times New Roman" panose="02020603050405020304" pitchFamily="18" charset="0"/>
                          <a:ea typeface="Calibri" panose="020F0502020204030204"/>
                          <a:cs typeface="Times New Roman" panose="02020603050405020304" pitchFamily="18" charset="0"/>
                        </a:rPr>
                        <a:t>2018</a:t>
                      </a:r>
                      <a:endParaRPr lang="en-IN" sz="1600" b="0" dirty="0">
                        <a:latin typeface="Times New Roman" panose="02020603050405020304" pitchFamily="18" charset="0"/>
                        <a:ea typeface="Calibri" panose="020F0502020204030204"/>
                        <a:cs typeface="Times New Roman" panose="02020603050405020304" pitchFamily="18" charset="0"/>
                      </a:endParaRPr>
                    </a:p>
                  </a:txBody>
                  <a:tcPr marL="68580" marR="68580" marT="0" marB="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1"/>
          <p:cNvSpPr>
            <a:spLocks noGrp="1"/>
          </p:cNvSpPr>
          <p:nvPr>
            <p:ph type="title"/>
          </p:nvPr>
        </p:nvSpPr>
        <p:spPr>
          <a:xfrm>
            <a:off x="569913" y="361950"/>
            <a:ext cx="11179175" cy="528638"/>
          </a:xfrm>
        </p:spPr>
        <p:txBody>
          <a:bodyPr vert="horz" wrap="square" lIns="91440" tIns="45720" rIns="91440" bIns="45720" anchor="ctr" anchorCtr="0"/>
          <a:p>
            <a:pPr eaLnBrk="1" hangingPunct="1"/>
            <a:r>
              <a:rPr lang="en-IN" altLang="en-US" sz="4000" b="1" dirty="0">
                <a:solidFill>
                  <a:srgbClr val="0070C0"/>
                </a:solidFill>
                <a:latin typeface="Times New Roman" panose="02020603050405020304" pitchFamily="18" charset="0"/>
                <a:cs typeface="Times New Roman" panose="02020603050405020304" pitchFamily="18" charset="0"/>
              </a:rPr>
              <a:t>Existing System</a:t>
            </a:r>
            <a:endParaRPr lang="en-IN" altLang="en-US" sz="4000" b="1" dirty="0">
              <a:solidFill>
                <a:srgbClr val="00206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241300" y="1120775"/>
            <a:ext cx="11742738" cy="5600700"/>
          </a:xfrm>
        </p:spPr>
        <p:txBody>
          <a:bodyPr vert="horz" wrap="square" lIns="91440" tIns="45720" rIns="91440" bIns="45720" numCol="1" rtlCol="0" anchor="t" anchorCtr="0" compatLnSpc="1">
            <a:normAutofit fontScale="70000"/>
          </a:bodyPr>
          <a:lstStyle/>
          <a:p>
            <a:pPr marL="517525" marR="0" lvl="0" indent="-457200"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Traditional traffic management systems rely on predefined rules and thresholds to assess traffic conditions and predict accident severity. These systems are limited in handling dynamic and complex traffic patterns.</a:t>
            </a:r>
            <a:endPar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17525" marR="0" lvl="0" indent="-457200"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Bayesian models are utilized to predict traffic severity by establishing probabilistic relationships between various contributing factors. They perform well in uncertainty-driven scenarios but may require extensive domain knowledge.</a:t>
            </a:r>
            <a:endPar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17525" marR="0" lvl="0" indent="-457200"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ANNs are applied to model complex patterns in traffic data, but they may demand high computational resources and extensive tuning for optimal performance.</a:t>
            </a:r>
            <a:endPar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17525" marR="0" lvl="0" indent="-457200"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SVM models have been employed to classify accident severity efficiently, particularly when dealing with small-to-medium-sized datasets.</a:t>
            </a:r>
            <a:endPar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17525" marR="0" lvl="0" indent="-457200" algn="just" defTabSz="914400" rtl="0" eaLnBrk="1" fontAlgn="auto" latinLnBrk="0" hangingPunct="1">
              <a:lnSpc>
                <a:spcPct val="120000"/>
              </a:lnSpc>
              <a:spcBef>
                <a:spcPts val="1000"/>
              </a:spcBef>
              <a:spcAft>
                <a:spcPts val="0"/>
              </a:spcAft>
              <a:buClrTx/>
              <a:buSzTx/>
              <a:buFont typeface="Wingdings" panose="05000000000000000000" pitchFamily="2" charset="2"/>
              <a:buChar char="Ø"/>
              <a:defRPr/>
            </a:pPr>
            <a:r>
              <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GIS-based systems visualize accident-prone zones and predict traffic severity based on spatial data. These systems are effective for region-specific predictions.</a:t>
            </a:r>
            <a:endPar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88925"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itle 1"/>
          <p:cNvSpPr>
            <a:spLocks noGrp="1"/>
          </p:cNvSpPr>
          <p:nvPr>
            <p:ph type="title"/>
          </p:nvPr>
        </p:nvSpPr>
        <p:spPr>
          <a:xfrm>
            <a:off x="1000125" y="276225"/>
            <a:ext cx="10502900" cy="1000125"/>
          </a:xfrm>
        </p:spPr>
        <p:txBody>
          <a:bodyPr vert="horz" wrap="square" lIns="91440" tIns="45720" rIns="91440" bIns="45720" anchor="ctr" anchorCtr="0"/>
          <a:p>
            <a:pPr eaLnBrk="1" hangingPunct="1"/>
            <a:br>
              <a:rPr lang="en-US" altLang="en-US" sz="4000" dirty="0">
                <a:solidFill>
                  <a:srgbClr val="002060"/>
                </a:solidFill>
                <a:latin typeface="Times New Roman" panose="02020603050405020304" pitchFamily="18" charset="0"/>
                <a:cs typeface="Times New Roman" panose="02020603050405020304" pitchFamily="18" charset="0"/>
              </a:rPr>
            </a:br>
            <a:r>
              <a:rPr lang="en-US" altLang="en-US" sz="4000" b="1" dirty="0">
                <a:solidFill>
                  <a:srgbClr val="0070C0"/>
                </a:solidFill>
                <a:latin typeface="Times New Roman" panose="02020603050405020304" pitchFamily="18" charset="0"/>
                <a:cs typeface="Times New Roman" panose="02020603050405020304" pitchFamily="18" charset="0"/>
              </a:rPr>
              <a:t>Objectives of </a:t>
            </a:r>
            <a:r>
              <a:rPr lang="en-IN" altLang="en-US" sz="4000" b="1" dirty="0">
                <a:solidFill>
                  <a:srgbClr val="0070C0"/>
                </a:solidFill>
                <a:latin typeface="Times New Roman" panose="02020603050405020304" pitchFamily="18" charset="0"/>
                <a:cs typeface="Times New Roman" panose="02020603050405020304" pitchFamily="18" charset="0"/>
              </a:rPr>
              <a:t>P</a:t>
            </a:r>
            <a:r>
              <a:rPr lang="en-US" altLang="en-US" sz="4000" b="1" dirty="0">
                <a:solidFill>
                  <a:srgbClr val="0070C0"/>
                </a:solidFill>
                <a:latin typeface="Times New Roman" panose="02020603050405020304" pitchFamily="18" charset="0"/>
                <a:cs typeface="Times New Roman" panose="02020603050405020304" pitchFamily="18" charset="0"/>
              </a:rPr>
              <a:t>roposed</a:t>
            </a:r>
            <a:r>
              <a:rPr lang="en-IN" altLang="en-US" sz="4000" b="1" dirty="0">
                <a:solidFill>
                  <a:srgbClr val="0070C0"/>
                </a:solidFill>
                <a:latin typeface="Times New Roman" panose="02020603050405020304" pitchFamily="18" charset="0"/>
                <a:cs typeface="Times New Roman" panose="02020603050405020304" pitchFamily="18" charset="0"/>
              </a:rPr>
              <a:t> System</a:t>
            </a:r>
            <a:br>
              <a:rPr lang="en-US" altLang="en-US" sz="4000" u="sng" dirty="0">
                <a:latin typeface="Times New Roman" panose="02020603050405020304" pitchFamily="18" charset="0"/>
                <a:cs typeface="Times New Roman" panose="02020603050405020304" pitchFamily="18" charset="0"/>
              </a:rPr>
            </a:br>
            <a:endParaRPr lang="en-US" altLang="en-US" sz="4000" b="1" dirty="0">
              <a:latin typeface="Times New Roman" panose="02020603050405020304" pitchFamily="18" charset="0"/>
              <a:ea typeface="Times New Roman" panose="02020603050405020304" pitchFamily="18" charset="0"/>
            </a:endParaRPr>
          </a:p>
        </p:txBody>
      </p:sp>
      <p:sp>
        <p:nvSpPr>
          <p:cNvPr id="17411" name="Content Placeholder 2"/>
          <p:cNvSpPr>
            <a:spLocks noGrp="1"/>
          </p:cNvSpPr>
          <p:nvPr>
            <p:ph idx="1"/>
          </p:nvPr>
        </p:nvSpPr>
        <p:spPr>
          <a:xfrm>
            <a:off x="144463" y="1293813"/>
            <a:ext cx="11903075" cy="5245100"/>
          </a:xfrm>
        </p:spPr>
        <p:txBody>
          <a:bodyPr vert="horz" wrap="square" lIns="91440" tIns="45720" rIns="91440" bIns="45720" anchor="t" anchorCtr="0"/>
          <a:p>
            <a:pPr eaLnBrk="1" hangingPunct="1">
              <a:lnSpc>
                <a:spcPct val="250000"/>
              </a:lnSpc>
              <a:buNone/>
            </a:pPr>
            <a:endParaRPr lang="en-US" altLang="en-US" sz="2400" dirty="0">
              <a:latin typeface="Times New Roman" panose="02020603050405020304" pitchFamily="18" charset="0"/>
              <a:cs typeface="Times New Roman" panose="02020603050405020304" pitchFamily="18" charset="0"/>
            </a:endParaRPr>
          </a:p>
          <a:p>
            <a:pPr eaLnBrk="1" hangingPunct="1">
              <a:lnSpc>
                <a:spcPct val="250000"/>
              </a:lnSpc>
              <a:buNone/>
            </a:pPr>
            <a:endParaRPr lang="en-US" altLang="en-US" sz="2400" dirty="0">
              <a:latin typeface="Times New Roman" panose="02020603050405020304" pitchFamily="18" charset="0"/>
              <a:cs typeface="Times New Roman" panose="02020603050405020304" pitchFamily="18" charset="0"/>
            </a:endParaRPr>
          </a:p>
          <a:p>
            <a:pPr eaLnBrk="1" hangingPunct="1">
              <a:lnSpc>
                <a:spcPct val="250000"/>
              </a:lnSpc>
              <a:buNone/>
            </a:pPr>
            <a:endParaRPr lang="en-US" altLang="en-US" sz="2400" dirty="0">
              <a:latin typeface="Times New Roman" panose="02020603050405020304" pitchFamily="18" charset="0"/>
              <a:cs typeface="Times New Roman" panose="02020603050405020304" pitchFamily="18" charset="0"/>
            </a:endParaRPr>
          </a:p>
          <a:p>
            <a:pPr eaLnBrk="1" hangingPunct="1">
              <a:lnSpc>
                <a:spcPct val="250000"/>
              </a:lnSpc>
              <a:buNone/>
            </a:pPr>
            <a:endParaRPr lang="en-US" altLang="en-US" sz="2400" dirty="0">
              <a:latin typeface="Times New Roman" panose="02020603050405020304" pitchFamily="18" charset="0"/>
              <a:ea typeface="Times New Roman" panose="02020603050405020304" pitchFamily="18" charset="0"/>
            </a:endParaRPr>
          </a:p>
        </p:txBody>
      </p:sp>
      <p:sp>
        <p:nvSpPr>
          <p:cNvPr id="2" name="Text Box 1"/>
          <p:cNvSpPr txBox="1"/>
          <p:nvPr/>
        </p:nvSpPr>
        <p:spPr>
          <a:xfrm>
            <a:off x="430530" y="1275715"/>
            <a:ext cx="11617325" cy="5443855"/>
          </a:xfrm>
          <a:prstGeom prst="rect">
            <a:avLst/>
          </a:prstGeom>
          <a:noFill/>
        </p:spPr>
        <p:txBody>
          <a:bodyPr wrap="square" rtlCol="0">
            <a:noAutofit/>
          </a:bodyPr>
          <a:p>
            <a:pPr marL="342900" indent="-342900" algn="just">
              <a:buFont typeface="Wingdings" panose="05000000000000000000" charset="0"/>
              <a:buChar char="Ø"/>
            </a:pPr>
            <a:r>
              <a:rPr lang="en-US" altLang="en-US" sz="2000"/>
              <a:t>The proposed system introduces an Ensemble Fusion Classifier (EFC) that combines both Machine Learning (ML) and Deep Learning (DL) models. This hybrid approach leverages the strengths of both techniques to enhance accident severity prediction, improving accuracy and robustness.</a:t>
            </a:r>
            <a:endParaRPr lang="en-US" altLang="en-US" sz="2000"/>
          </a:p>
          <a:p>
            <a:pPr marL="342900" indent="-342900" algn="just">
              <a:buFont typeface="Wingdings" panose="05000000000000000000" charset="0"/>
              <a:buChar char="Ø"/>
            </a:pPr>
            <a:endParaRPr lang="en-US" sz="2000"/>
          </a:p>
          <a:p>
            <a:pPr marL="342900" indent="-342900" algn="just">
              <a:buFont typeface="Wingdings" panose="05000000000000000000" charset="0"/>
              <a:buChar char="Ø"/>
            </a:pPr>
            <a:r>
              <a:rPr lang="en-US" altLang="en-US" sz="2000"/>
              <a:t>The system integrates Random Forest (RF) to identify the most influential features and Convolutional Neural Network (CNN) for recognizing complex patterns in traffic data. This combination ensures effective feature learning and classification.</a:t>
            </a:r>
            <a:endParaRPr lang="en-US" altLang="en-US" sz="2000"/>
          </a:p>
          <a:p>
            <a:pPr marL="342900" indent="-342900" algn="just">
              <a:buFont typeface="Wingdings" panose="05000000000000000000" charset="0"/>
              <a:buChar char="Ø"/>
            </a:pPr>
            <a:endParaRPr lang="en-US" altLang="en-US" sz="2000"/>
          </a:p>
          <a:p>
            <a:pPr marL="342900" indent="-342900" algn="just">
              <a:buFont typeface="Wingdings" panose="05000000000000000000" charset="0"/>
              <a:buChar char="Ø"/>
            </a:pPr>
            <a:r>
              <a:rPr lang="en-US" altLang="en-US" sz="2000"/>
              <a:t>The model selects the top 20 significant features (such as distance, temperature, and visibility) to focus only on the most relevant data points. This reduces computational load while maintaining high predictive accuracy.</a:t>
            </a:r>
            <a:endParaRPr lang="en-US" altLang="en-US" sz="2000"/>
          </a:p>
          <a:p>
            <a:pPr marL="342900" indent="-342900" algn="just">
              <a:buFont typeface="Wingdings" panose="05000000000000000000" charset="0"/>
              <a:buChar char="Ø"/>
            </a:pPr>
            <a:endParaRPr lang="en-US" altLang="en-US" sz="2000"/>
          </a:p>
          <a:p>
            <a:pPr marL="342900" indent="-342900" algn="just">
              <a:buFont typeface="Wingdings" panose="05000000000000000000" charset="0"/>
              <a:buChar char="Ø"/>
            </a:pPr>
            <a:r>
              <a:rPr lang="en-US" altLang="en-US" sz="2000"/>
              <a:t>The system employs a soft voting mechanism that combines prediction probabilities from multiple models. This technique enhances decision reliability by reducing errors caused by individual model biases.</a:t>
            </a:r>
            <a:endParaRPr lang="en-US" alt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
          <p:cNvSpPr>
            <a:spLocks noGrp="1"/>
          </p:cNvSpPr>
          <p:nvPr>
            <p:ph type="title"/>
          </p:nvPr>
        </p:nvSpPr>
        <p:spPr>
          <a:xfrm>
            <a:off x="1000125" y="276225"/>
            <a:ext cx="10502900" cy="1000125"/>
          </a:xfrm>
        </p:spPr>
        <p:txBody>
          <a:bodyPr vert="horz" wrap="square" lIns="91440" tIns="45720" rIns="91440" bIns="45720" anchor="ctr" anchorCtr="0"/>
          <a:p>
            <a:pPr eaLnBrk="1" hangingPunct="1"/>
            <a:br>
              <a:rPr lang="en-US" altLang="en-US" sz="4000" dirty="0">
                <a:solidFill>
                  <a:srgbClr val="002060"/>
                </a:solidFill>
                <a:latin typeface="Times New Roman" panose="02020603050405020304" pitchFamily="18" charset="0"/>
                <a:cs typeface="Times New Roman" panose="02020603050405020304" pitchFamily="18" charset="0"/>
              </a:rPr>
            </a:br>
            <a:r>
              <a:rPr lang="en-US" altLang="en-US" sz="4000" b="1" dirty="0">
                <a:solidFill>
                  <a:srgbClr val="0070C0"/>
                </a:solidFill>
                <a:latin typeface="Times New Roman" panose="02020603050405020304" pitchFamily="18" charset="0"/>
                <a:cs typeface="Times New Roman" panose="02020603050405020304" pitchFamily="18" charset="0"/>
              </a:rPr>
              <a:t>Objectives of </a:t>
            </a:r>
            <a:r>
              <a:rPr lang="en-IN" altLang="en-US" sz="4000" b="1" dirty="0">
                <a:solidFill>
                  <a:srgbClr val="0070C0"/>
                </a:solidFill>
                <a:latin typeface="Times New Roman" panose="02020603050405020304" pitchFamily="18" charset="0"/>
                <a:cs typeface="Times New Roman" panose="02020603050405020304" pitchFamily="18" charset="0"/>
              </a:rPr>
              <a:t>P</a:t>
            </a:r>
            <a:r>
              <a:rPr lang="en-US" altLang="en-US" sz="4000" b="1" dirty="0">
                <a:solidFill>
                  <a:srgbClr val="0070C0"/>
                </a:solidFill>
                <a:latin typeface="Times New Roman" panose="02020603050405020304" pitchFamily="18" charset="0"/>
                <a:cs typeface="Times New Roman" panose="02020603050405020304" pitchFamily="18" charset="0"/>
              </a:rPr>
              <a:t>roposed</a:t>
            </a:r>
            <a:r>
              <a:rPr lang="en-IN" altLang="en-US" sz="4000" b="1" dirty="0">
                <a:solidFill>
                  <a:srgbClr val="0070C0"/>
                </a:solidFill>
                <a:latin typeface="Times New Roman" panose="02020603050405020304" pitchFamily="18" charset="0"/>
                <a:cs typeface="Times New Roman" panose="02020603050405020304" pitchFamily="18" charset="0"/>
              </a:rPr>
              <a:t> System</a:t>
            </a:r>
            <a:br>
              <a:rPr lang="en-US" altLang="en-US" sz="4000" u="sng" dirty="0">
                <a:latin typeface="Times New Roman" panose="02020603050405020304" pitchFamily="18" charset="0"/>
                <a:cs typeface="Times New Roman" panose="02020603050405020304" pitchFamily="18" charset="0"/>
              </a:rPr>
            </a:br>
            <a:endParaRPr lang="en-US" altLang="en-US" sz="4000" b="1" dirty="0">
              <a:latin typeface="Times New Roman" panose="02020603050405020304" pitchFamily="18" charset="0"/>
              <a:ea typeface="Times New Roman" panose="02020603050405020304" pitchFamily="18" charset="0"/>
            </a:endParaRPr>
          </a:p>
        </p:txBody>
      </p:sp>
      <p:sp>
        <p:nvSpPr>
          <p:cNvPr id="16387" name="Content Placeholder 2"/>
          <p:cNvSpPr>
            <a:spLocks noGrp="1"/>
          </p:cNvSpPr>
          <p:nvPr>
            <p:ph idx="1"/>
          </p:nvPr>
        </p:nvSpPr>
        <p:spPr>
          <a:xfrm>
            <a:off x="144780" y="1276350"/>
            <a:ext cx="11903075" cy="5262880"/>
          </a:xfrm>
        </p:spPr>
        <p:txBody>
          <a:bodyPr vert="horz" wrap="square" lIns="91440" tIns="45720" rIns="91440" bIns="45720" anchor="t" anchorCtr="0"/>
          <a:p>
            <a:pPr eaLnBrk="1" hangingPunct="1">
              <a:lnSpc>
                <a:spcPct val="250000"/>
              </a:lnSpc>
              <a:buNone/>
            </a:pPr>
            <a:endParaRPr lang="en-US" altLang="en-US" sz="2400" dirty="0">
              <a:latin typeface="Times New Roman" panose="02020603050405020304" pitchFamily="18" charset="0"/>
              <a:cs typeface="Times New Roman" panose="02020603050405020304" pitchFamily="18" charset="0"/>
            </a:endParaRPr>
          </a:p>
          <a:p>
            <a:pPr eaLnBrk="1" hangingPunct="1">
              <a:lnSpc>
                <a:spcPct val="250000"/>
              </a:lnSpc>
              <a:buNone/>
            </a:pPr>
            <a:endParaRPr lang="en-US" altLang="en-US" sz="2400" dirty="0">
              <a:latin typeface="Times New Roman" panose="02020603050405020304" pitchFamily="18" charset="0"/>
              <a:cs typeface="Times New Roman" panose="02020603050405020304" pitchFamily="18" charset="0"/>
            </a:endParaRPr>
          </a:p>
          <a:p>
            <a:pPr eaLnBrk="1" hangingPunct="1">
              <a:lnSpc>
                <a:spcPct val="250000"/>
              </a:lnSpc>
              <a:buNone/>
            </a:pPr>
            <a:endParaRPr lang="en-US" altLang="en-US" sz="2400" dirty="0">
              <a:latin typeface="Times New Roman" panose="02020603050405020304" pitchFamily="18" charset="0"/>
              <a:cs typeface="Times New Roman" panose="02020603050405020304" pitchFamily="18" charset="0"/>
            </a:endParaRPr>
          </a:p>
          <a:p>
            <a:pPr eaLnBrk="1" hangingPunct="1">
              <a:lnSpc>
                <a:spcPct val="250000"/>
              </a:lnSpc>
              <a:buNone/>
            </a:pPr>
            <a:endParaRPr lang="en-US" altLang="en-US" sz="2400" dirty="0">
              <a:latin typeface="Times New Roman" panose="02020603050405020304" pitchFamily="18" charset="0"/>
              <a:cs typeface="Times New Roman" panose="02020603050405020304" pitchFamily="18" charset="0"/>
            </a:endParaRPr>
          </a:p>
          <a:p>
            <a:pPr eaLnBrk="1" hangingPunct="1">
              <a:lnSpc>
                <a:spcPct val="250000"/>
              </a:lnSpc>
              <a:buNone/>
            </a:pPr>
            <a:endParaRPr lang="en-US" altLang="en-US" sz="2400" dirty="0">
              <a:latin typeface="Times New Roman" panose="02020603050405020304" pitchFamily="18" charset="0"/>
              <a:ea typeface="Times New Roman" panose="02020603050405020304" pitchFamily="18" charset="0"/>
            </a:endParaRPr>
          </a:p>
        </p:txBody>
      </p:sp>
      <p:sp>
        <p:nvSpPr>
          <p:cNvPr id="2" name="Text Box 1"/>
          <p:cNvSpPr txBox="1"/>
          <p:nvPr/>
        </p:nvSpPr>
        <p:spPr>
          <a:xfrm>
            <a:off x="144780" y="1276985"/>
            <a:ext cx="11904345" cy="5393055"/>
          </a:xfrm>
          <a:prstGeom prst="rect">
            <a:avLst/>
          </a:prstGeom>
          <a:noFill/>
        </p:spPr>
        <p:txBody>
          <a:bodyPr wrap="square" rtlCol="0">
            <a:noAutofit/>
          </a:bodyPr>
          <a:p>
            <a:pPr marL="342900" indent="-342900" algn="just">
              <a:buFont typeface="Wingdings" panose="05000000000000000000" charset="0"/>
              <a:buChar char="Ø"/>
            </a:pPr>
            <a:r>
              <a:rPr lang="en-US" altLang="en-US" sz="2400">
                <a:latin typeface="Times New Roman" panose="02020603050405020304" pitchFamily="18" charset="0"/>
                <a:cs typeface="Times New Roman" panose="02020603050405020304" pitchFamily="18" charset="0"/>
              </a:rPr>
              <a:t>The EFC model efficiently handles noisy data, missing values, and outliers. By improving data preprocessing and feature selection, the system ensures stable and consistent performance even with incomplete or inconsistent data.</a:t>
            </a:r>
            <a:endParaRPr lang="en-US" altLang="en-US" sz="240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endParaRPr lang="en-US" altLang="en-US" sz="240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400">
                <a:latin typeface="Times New Roman" panose="02020603050405020304" pitchFamily="18" charset="0"/>
                <a:cs typeface="Times New Roman" panose="02020603050405020304" pitchFamily="18" charset="0"/>
              </a:rPr>
              <a:t>The EFC model achieved outstanding results with 98.8% accuracy, 97.3% precision, 98.5% recall, and 98.4% F1 score, outperforming traditional models in all aspects.</a:t>
            </a:r>
            <a:endParaRPr lang="en-US" altLang="en-US" sz="240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endParaRPr lang="en-US" altLang="en-US" sz="240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400">
                <a:latin typeface="Times New Roman" panose="02020603050405020304" pitchFamily="18" charset="0"/>
                <a:cs typeface="Times New Roman" panose="02020603050405020304" pitchFamily="18" charset="0"/>
              </a:rPr>
              <a:t>The system is designed to deliver real-time predictions, ensuring quick and accurate results, making it suitable for intelligent traffic management systems and smart city solutions.</a:t>
            </a:r>
            <a:endParaRPr lang="en-US" altLang="en-US" sz="240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endParaRPr lang="en-US" altLang="en-US" sz="240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400">
                <a:latin typeface="Times New Roman" panose="02020603050405020304" pitchFamily="18" charset="0"/>
                <a:cs typeface="Times New Roman" panose="02020603050405020304" pitchFamily="18" charset="0"/>
              </a:rPr>
              <a:t>The EFC model is flexible and scalable, enabling it to adapt effectively to different regions, diverse traffic conditions, and various environmental factors, ensuring widespread applicability.</a:t>
            </a: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1"/>
          <p:cNvSpPr>
            <a:spLocks noGrp="1"/>
          </p:cNvSpPr>
          <p:nvPr>
            <p:ph type="title"/>
          </p:nvPr>
        </p:nvSpPr>
        <p:spPr/>
        <p:txBody>
          <a:bodyPr vert="horz" wrap="square" lIns="91440" tIns="45720" rIns="91440" bIns="45720" anchor="ctr" anchorCtr="0"/>
          <a:p>
            <a:pPr eaLnBrk="1" hangingPunct="1">
              <a:buNone/>
            </a:pPr>
            <a:r>
              <a:rPr lang="en-US" altLang="en-US" b="1" dirty="0">
                <a:solidFill>
                  <a:srgbClr val="0070C0"/>
                </a:solidFill>
                <a:latin typeface="Times New Roman" panose="02020603050405020304" pitchFamily="18" charset="0"/>
                <a:cs typeface="Times New Roman" panose="02020603050405020304" pitchFamily="18" charset="0"/>
              </a:rPr>
              <a:t>Software &amp; Hardware Requirements</a:t>
            </a:r>
            <a:endParaRPr lang="en-IN" altLang="x-none" dirty="0"/>
          </a:p>
        </p:txBody>
      </p:sp>
      <p:sp>
        <p:nvSpPr>
          <p:cNvPr id="18435" name="Content Placeholder 2"/>
          <p:cNvSpPr>
            <a:spLocks noGrp="1"/>
          </p:cNvSpPr>
          <p:nvPr>
            <p:ph idx="1"/>
          </p:nvPr>
        </p:nvSpPr>
        <p:spPr/>
        <p:txBody>
          <a:bodyPr vert="horz" wrap="square" lIns="91440" tIns="45720" rIns="91440" bIns="45720" anchor="t" anchorCtr="0"/>
          <a:p>
            <a:pPr marL="0" indent="0" algn="l" eaLnBrk="1" hangingPunct="1">
              <a:buNone/>
            </a:pPr>
            <a:r>
              <a:rPr lang="en-US" altLang="en-US" sz="2000" dirty="0">
                <a:latin typeface="Times New Roman" panose="02020603050405020304" pitchFamily="18" charset="0"/>
                <a:cs typeface="Times New Roman" panose="02020603050405020304" pitchFamily="18" charset="0"/>
              </a:rPr>
              <a:t>HARD</a:t>
            </a:r>
            <a:r>
              <a:rPr lang="en-IN" altLang="en-US" sz="2000" dirty="0">
                <a:latin typeface="Times New Roman" panose="02020603050405020304" pitchFamily="18" charset="0"/>
                <a:cs typeface="Times New Roman" panose="02020603050405020304" pitchFamily="18" charset="0"/>
              </a:rPr>
              <a:t>WARE </a:t>
            </a:r>
            <a:r>
              <a:rPr lang="en-US" altLang="en-US" sz="2000" dirty="0">
                <a:latin typeface="Times New Roman" panose="02020603050405020304" pitchFamily="18" charset="0"/>
                <a:cs typeface="Times New Roman" panose="02020603050405020304" pitchFamily="18" charset="0"/>
              </a:rPr>
              <a:t> REQUIRMENTS :</a:t>
            </a:r>
            <a:endParaRPr lang="en-US" altLang="en-US" sz="2000" dirty="0">
              <a:latin typeface="Times New Roman" panose="02020603050405020304" pitchFamily="18" charset="0"/>
              <a:cs typeface="Times New Roman" panose="02020603050405020304" pitchFamily="18" charset="0"/>
            </a:endParaRPr>
          </a:p>
          <a:p>
            <a:pPr algn="l" eaLnBrk="1" hangingPunct="1"/>
            <a:r>
              <a:rPr lang="en-US" altLang="en-US" sz="2000" dirty="0">
                <a:latin typeface="Times New Roman" panose="02020603050405020304" pitchFamily="18" charset="0"/>
                <a:cs typeface="Times New Roman" panose="02020603050405020304" pitchFamily="18" charset="0"/>
              </a:rPr>
              <a:t>System</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		: </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	i3 or above. </a:t>
            </a:r>
            <a:endParaRPr lang="en-US" altLang="en-US" sz="2000" dirty="0">
              <a:latin typeface="Times New Roman" panose="02020603050405020304" pitchFamily="18" charset="0"/>
              <a:cs typeface="Times New Roman" panose="02020603050405020304" pitchFamily="18" charset="0"/>
            </a:endParaRPr>
          </a:p>
          <a:p>
            <a:pPr algn="l" eaLnBrk="1" hangingPunct="1"/>
            <a:r>
              <a:rPr lang="en-US" altLang="en-US" sz="2000" dirty="0">
                <a:latin typeface="Times New Roman" panose="02020603050405020304" pitchFamily="18" charset="0"/>
                <a:cs typeface="Times New Roman" panose="02020603050405020304" pitchFamily="18" charset="0"/>
              </a:rPr>
              <a:t>Ram</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		</a:t>
            </a:r>
            <a:r>
              <a:rPr lang="en-IN" altLang="en-US"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4 GB. </a:t>
            </a:r>
            <a:endParaRPr lang="en-US" altLang="en-US" sz="2000" dirty="0">
              <a:latin typeface="Times New Roman" panose="02020603050405020304" pitchFamily="18" charset="0"/>
              <a:cs typeface="Times New Roman" panose="02020603050405020304" pitchFamily="18" charset="0"/>
            </a:endParaRPr>
          </a:p>
          <a:p>
            <a:pPr algn="l" eaLnBrk="1" hangingPunct="1"/>
            <a:r>
              <a:rPr lang="en-US" altLang="en-US" sz="2000" dirty="0">
                <a:latin typeface="Times New Roman" panose="02020603050405020304" pitchFamily="18" charset="0"/>
                <a:cs typeface="Times New Roman" panose="02020603050405020304" pitchFamily="18" charset="0"/>
              </a:rPr>
              <a:t>Hard Disk                   </a:t>
            </a:r>
            <a:r>
              <a:rPr lang="en-IN" altLang="en-US"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40 GB</a:t>
            </a:r>
            <a:endParaRPr lang="en-US" altLang="en-US" sz="2000" dirty="0">
              <a:latin typeface="Times New Roman" panose="02020603050405020304" pitchFamily="18" charset="0"/>
              <a:cs typeface="Times New Roman" panose="02020603050405020304" pitchFamily="18" charset="0"/>
            </a:endParaRPr>
          </a:p>
          <a:p>
            <a:pPr algn="l" eaLnBrk="1" hangingPunct="1"/>
            <a:endParaRPr lang="en-US" altLang="en-US" sz="2000" dirty="0">
              <a:latin typeface="Times New Roman" panose="02020603050405020304" pitchFamily="18" charset="0"/>
              <a:cs typeface="Times New Roman" panose="02020603050405020304" pitchFamily="18" charset="0"/>
            </a:endParaRPr>
          </a:p>
          <a:p>
            <a:pPr algn="l" eaLnBrk="1" hangingPunct="1"/>
            <a:endParaRPr lang="en-US" altLang="en-US" sz="2000" dirty="0">
              <a:latin typeface="Times New Roman" panose="02020603050405020304" pitchFamily="18" charset="0"/>
              <a:cs typeface="Times New Roman" panose="02020603050405020304" pitchFamily="18" charset="0"/>
            </a:endParaRPr>
          </a:p>
          <a:p>
            <a:pPr marL="0" indent="0" algn="l" eaLnBrk="1" hangingPunct="1">
              <a:buNone/>
            </a:pPr>
            <a:r>
              <a:rPr lang="en-US" altLang="en-US" sz="2000" dirty="0">
                <a:latin typeface="Times New Roman" panose="02020603050405020304" pitchFamily="18" charset="0"/>
                <a:cs typeface="Times New Roman" panose="02020603050405020304" pitchFamily="18" charset="0"/>
              </a:rPr>
              <a:t>SOFTWARE REQUIRMENTS :</a:t>
            </a:r>
            <a:endParaRPr lang="en-US" altLang="en-US" sz="2000" dirty="0">
              <a:latin typeface="Times New Roman" panose="02020603050405020304" pitchFamily="18" charset="0"/>
              <a:cs typeface="Times New Roman" panose="02020603050405020304" pitchFamily="18" charset="0"/>
            </a:endParaRPr>
          </a:p>
          <a:p>
            <a:pPr algn="l" eaLnBrk="1" hangingPunct="1"/>
            <a:r>
              <a:rPr lang="en-US" altLang="en-US" sz="2000" dirty="0">
                <a:latin typeface="Times New Roman" panose="02020603050405020304" pitchFamily="18" charset="0"/>
                <a:cs typeface="Times New Roman" panose="02020603050405020304" pitchFamily="18" charset="0"/>
              </a:rPr>
              <a:t>Operating system </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	:  	Windows8 or Above. </a:t>
            </a:r>
            <a:endParaRPr lang="en-US" altLang="en-US" sz="2000" dirty="0">
              <a:latin typeface="Times New Roman" panose="02020603050405020304" pitchFamily="18" charset="0"/>
              <a:cs typeface="Times New Roman" panose="02020603050405020304" pitchFamily="18" charset="0"/>
            </a:endParaRPr>
          </a:p>
          <a:p>
            <a:pPr algn="l" eaLnBrk="1" hangingPunct="1"/>
            <a:r>
              <a:rPr lang="en-US" altLang="en-US" sz="2000" dirty="0">
                <a:latin typeface="Times New Roman" panose="02020603050405020304" pitchFamily="18" charset="0"/>
                <a:cs typeface="Times New Roman" panose="02020603050405020304" pitchFamily="18" charset="0"/>
              </a:rPr>
              <a:t>Coding Language</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	: 	python</a:t>
            </a:r>
            <a:endParaRPr lang="en-US" altLang="en-US" sz="2000" dirty="0">
              <a:latin typeface="Times New Roman" panose="02020603050405020304" pitchFamily="18" charset="0"/>
              <a:cs typeface="Times New Roman" panose="02020603050405020304" pitchFamily="18" charset="0"/>
            </a:endParaRPr>
          </a:p>
        </p:txBody>
      </p:sp>
      <p:sp>
        <p:nvSpPr>
          <p:cNvPr id="18436"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IN" altLang="en-US" sz="1200" dirty="0">
                <a:solidFill>
                  <a:srgbClr val="898989"/>
                </a:solidFill>
                <a:latin typeface="Calibri" panose="020F0502020204030204" pitchFamily="34" charset="0"/>
              </a:rPr>
            </a:fld>
            <a:endParaRPr lang="en-IN" altLang="en-US" sz="1200" dirty="0">
              <a:solidFill>
                <a:srgbClr val="898989"/>
              </a:solidFill>
              <a:latin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
          <p:cNvSpPr>
            <a:spLocks noGrp="1"/>
          </p:cNvSpPr>
          <p:nvPr>
            <p:ph type="title"/>
          </p:nvPr>
        </p:nvSpPr>
        <p:spPr>
          <a:xfrm>
            <a:off x="374650" y="-250825"/>
            <a:ext cx="11442700" cy="1506538"/>
          </a:xfrm>
        </p:spPr>
        <p:txBody>
          <a:bodyPr vert="horz" wrap="square" lIns="91440" tIns="45720" rIns="91440" bIns="45720" anchor="ctr" anchorCtr="0"/>
          <a:p>
            <a:pPr eaLnBrk="1" hangingPunct="1"/>
            <a:r>
              <a:rPr lang="en-IN" altLang="en-US" sz="3200" b="1" dirty="0">
                <a:solidFill>
                  <a:srgbClr val="0070C0"/>
                </a:solidFill>
                <a:latin typeface="Times New Roman" panose="02020603050405020304" pitchFamily="18" charset="0"/>
                <a:cs typeface="Times New Roman" panose="02020603050405020304" pitchFamily="18" charset="0"/>
              </a:rPr>
              <a:t> Block Diagram of </a:t>
            </a:r>
            <a:r>
              <a:rPr lang="en-US" altLang="en-US" sz="3200" b="1" dirty="0">
                <a:solidFill>
                  <a:srgbClr val="0070C0"/>
                </a:solidFill>
                <a:latin typeface="Times New Roman" panose="02020603050405020304" pitchFamily="18" charset="0"/>
                <a:cs typeface="Times New Roman" panose="02020603050405020304" pitchFamily="18" charset="0"/>
              </a:rPr>
              <a:t>Proposal </a:t>
            </a:r>
            <a:endParaRPr lang="en-US" altLang="en-US" sz="2200" dirty="0">
              <a:latin typeface="Times New Roman" panose="02020603050405020304" pitchFamily="18" charset="0"/>
              <a:ea typeface="Times New Roman" panose="02020603050405020304" pitchFamily="18" charset="0"/>
            </a:endParaRPr>
          </a:p>
        </p:txBody>
      </p:sp>
      <p:sp>
        <p:nvSpPr>
          <p:cNvPr id="19459" name="Slide Number Placeholder 3"/>
          <p:cNvSpPr txBox="1">
            <a:spLocks noGrp="1"/>
          </p:cNvSpPr>
          <p:nvPr>
            <p:ph type="sldNum" sz="quarter" idx="12"/>
          </p:nvPr>
        </p:nvSpPr>
        <p:spPr>
          <a:xfrm>
            <a:off x="136525" y="6080125"/>
            <a:ext cx="11217275" cy="641350"/>
          </a:xfrm>
          <a:noFill/>
          <a:ln>
            <a:noFill/>
          </a:ln>
        </p:spPr>
        <p:txBody>
          <a:bodyPr anchor="ctr" anchorCtr="0"/>
          <a:p>
            <a:pPr marL="0" indent="0" algn="ctr" eaLnBrk="1" hangingPunct="1">
              <a:lnSpc>
                <a:spcPct val="100000"/>
              </a:lnSpc>
              <a:spcBef>
                <a:spcPct val="0"/>
              </a:spcBef>
              <a:buFontTx/>
              <a:buNone/>
            </a:pPr>
            <a:r>
              <a:rPr lang="en-IN" altLang="en-US" sz="1400" b="1" dirty="0">
                <a:solidFill>
                  <a:schemeClr val="tx1"/>
                </a:solidFill>
                <a:latin typeface="Times New Roman" panose="02020603050405020304" pitchFamily="18" charset="0"/>
                <a:ea typeface="Arial" panose="020B0604020202020204" pitchFamily="34" charset="0"/>
                <a:cs typeface="Times New Roman" panose="02020603050405020304" pitchFamily="18" charset="0"/>
              </a:rPr>
              <a:t>FIG 1  WORKING OF THE PROPOSED MODEL</a:t>
            </a:r>
            <a:endParaRPr lang="en-IN" altLang="en-US" sz="1400" b="1" dirty="0">
              <a:solidFill>
                <a:schemeClr val="tx1"/>
              </a:solidFill>
              <a:latin typeface="Times New Roman" panose="02020603050405020304" pitchFamily="18" charset="0"/>
              <a:ea typeface="Arial" panose="020B0604020202020204" pitchFamily="34" charset="0"/>
              <a:cs typeface="Times New Roman" panose="02020603050405020304" pitchFamily="18" charset="0"/>
            </a:endParaRPr>
          </a:p>
        </p:txBody>
      </p:sp>
      <p:grpSp>
        <p:nvGrpSpPr>
          <p:cNvPr id="24" name="Group 24"/>
          <p:cNvGrpSpPr/>
          <p:nvPr/>
        </p:nvGrpSpPr>
        <p:grpSpPr>
          <a:xfrm>
            <a:off x="1708785" y="1256030"/>
            <a:ext cx="7995920" cy="3990975"/>
            <a:chOff x="0" y="0"/>
            <a:chExt cx="4553585" cy="2456815"/>
          </a:xfrm>
        </p:grpSpPr>
        <p:pic>
          <p:nvPicPr>
            <p:cNvPr id="25" name="Image 25"/>
            <p:cNvPicPr/>
            <p:nvPr/>
          </p:nvPicPr>
          <p:blipFill>
            <a:blip r:embed="rId1" cstate="print"/>
            <a:stretch>
              <a:fillRect/>
            </a:stretch>
          </p:blipFill>
          <p:spPr>
            <a:xfrm>
              <a:off x="0" y="1039030"/>
              <a:ext cx="972219" cy="722371"/>
            </a:xfrm>
            <a:prstGeom prst="rect">
              <a:avLst/>
            </a:prstGeom>
          </p:spPr>
        </p:pic>
        <p:sp>
          <p:nvSpPr>
            <p:cNvPr id="26" name="Graphic 26"/>
            <p:cNvSpPr/>
            <p:nvPr/>
          </p:nvSpPr>
          <p:spPr>
            <a:xfrm>
              <a:off x="115031" y="3708"/>
              <a:ext cx="742315" cy="742315"/>
            </a:xfrm>
            <a:custGeom>
              <a:avLst/>
              <a:gdLst/>
              <a:ahLst/>
              <a:cxnLst/>
              <a:rect l="l" t="t" r="r" b="b"/>
              <a:pathLst>
                <a:path w="742315" h="742315">
                  <a:moveTo>
                    <a:pt x="0" y="111328"/>
                  </a:moveTo>
                  <a:lnTo>
                    <a:pt x="23219" y="72499"/>
                  </a:lnTo>
                  <a:lnTo>
                    <a:pt x="87282" y="39618"/>
                  </a:lnTo>
                  <a:lnTo>
                    <a:pt x="132009" y="26196"/>
                  </a:lnTo>
                  <a:lnTo>
                    <a:pt x="183801" y="15208"/>
                  </a:lnTo>
                  <a:lnTo>
                    <a:pt x="241610" y="6969"/>
                  </a:lnTo>
                  <a:lnTo>
                    <a:pt x="304386" y="1795"/>
                  </a:lnTo>
                  <a:lnTo>
                    <a:pt x="371081" y="0"/>
                  </a:lnTo>
                  <a:lnTo>
                    <a:pt x="429480" y="1387"/>
                  </a:lnTo>
                  <a:lnTo>
                    <a:pt x="485920" y="5465"/>
                  </a:lnTo>
                  <a:lnTo>
                    <a:pt x="539404" y="12108"/>
                  </a:lnTo>
                  <a:lnTo>
                    <a:pt x="588934" y="21191"/>
                  </a:lnTo>
                  <a:lnTo>
                    <a:pt x="633514" y="32588"/>
                  </a:lnTo>
                  <a:lnTo>
                    <a:pt x="679824" y="49566"/>
                  </a:lnTo>
                  <a:lnTo>
                    <a:pt x="713913" y="68729"/>
                  </a:lnTo>
                  <a:lnTo>
                    <a:pt x="742162" y="111328"/>
                  </a:lnTo>
                  <a:lnTo>
                    <a:pt x="742162" y="630847"/>
                  </a:lnTo>
                  <a:lnTo>
                    <a:pt x="718943" y="669674"/>
                  </a:lnTo>
                  <a:lnTo>
                    <a:pt x="654879" y="702551"/>
                  </a:lnTo>
                  <a:lnTo>
                    <a:pt x="610152" y="715970"/>
                  </a:lnTo>
                  <a:lnTo>
                    <a:pt x="558360" y="726956"/>
                  </a:lnTo>
                  <a:lnTo>
                    <a:pt x="500552" y="735194"/>
                  </a:lnTo>
                  <a:lnTo>
                    <a:pt x="437776" y="740367"/>
                  </a:lnTo>
                  <a:lnTo>
                    <a:pt x="371081" y="742162"/>
                  </a:lnTo>
                  <a:lnTo>
                    <a:pt x="304386" y="740367"/>
                  </a:lnTo>
                  <a:lnTo>
                    <a:pt x="241610" y="735194"/>
                  </a:lnTo>
                  <a:lnTo>
                    <a:pt x="183801" y="726956"/>
                  </a:lnTo>
                  <a:lnTo>
                    <a:pt x="132009" y="715970"/>
                  </a:lnTo>
                  <a:lnTo>
                    <a:pt x="87282" y="702551"/>
                  </a:lnTo>
                  <a:lnTo>
                    <a:pt x="50669" y="687014"/>
                  </a:lnTo>
                  <a:lnTo>
                    <a:pt x="5979" y="650846"/>
                  </a:lnTo>
                  <a:lnTo>
                    <a:pt x="0" y="630847"/>
                  </a:lnTo>
                  <a:lnTo>
                    <a:pt x="0" y="111328"/>
                  </a:lnTo>
                  <a:close/>
                </a:path>
              </a:pathLst>
            </a:custGeom>
            <a:ln w="7416">
              <a:solidFill>
                <a:srgbClr val="000000"/>
              </a:solidFill>
              <a:prstDash val="solid"/>
            </a:ln>
          </p:spPr>
        </p:sp>
        <p:sp>
          <p:nvSpPr>
            <p:cNvPr id="27" name="Graphic 27"/>
            <p:cNvSpPr/>
            <p:nvPr/>
          </p:nvSpPr>
          <p:spPr>
            <a:xfrm>
              <a:off x="115031" y="115036"/>
              <a:ext cx="742315" cy="111760"/>
            </a:xfrm>
            <a:custGeom>
              <a:avLst/>
              <a:gdLst/>
              <a:ahLst/>
              <a:cxnLst/>
              <a:rect l="l" t="t" r="r" b="b"/>
              <a:pathLst>
                <a:path w="742315" h="111760">
                  <a:moveTo>
                    <a:pt x="742162" y="0"/>
                  </a:moveTo>
                  <a:lnTo>
                    <a:pt x="718943" y="38834"/>
                  </a:lnTo>
                  <a:lnTo>
                    <a:pt x="654879" y="71715"/>
                  </a:lnTo>
                  <a:lnTo>
                    <a:pt x="610152" y="85135"/>
                  </a:lnTo>
                  <a:lnTo>
                    <a:pt x="558360" y="96122"/>
                  </a:lnTo>
                  <a:lnTo>
                    <a:pt x="500552" y="104359"/>
                  </a:lnTo>
                  <a:lnTo>
                    <a:pt x="437776" y="109533"/>
                  </a:lnTo>
                  <a:lnTo>
                    <a:pt x="371081" y="111328"/>
                  </a:lnTo>
                  <a:lnTo>
                    <a:pt x="304386" y="109533"/>
                  </a:lnTo>
                  <a:lnTo>
                    <a:pt x="241610" y="104359"/>
                  </a:lnTo>
                  <a:lnTo>
                    <a:pt x="183801" y="96122"/>
                  </a:lnTo>
                  <a:lnTo>
                    <a:pt x="132009" y="85135"/>
                  </a:lnTo>
                  <a:lnTo>
                    <a:pt x="87282" y="71715"/>
                  </a:lnTo>
                  <a:lnTo>
                    <a:pt x="50669" y="56176"/>
                  </a:lnTo>
                  <a:lnTo>
                    <a:pt x="5979" y="20003"/>
                  </a:lnTo>
                  <a:lnTo>
                    <a:pt x="0" y="0"/>
                  </a:lnTo>
                </a:path>
              </a:pathLst>
            </a:custGeom>
            <a:ln w="7416">
              <a:solidFill>
                <a:srgbClr val="000000"/>
              </a:solidFill>
              <a:prstDash val="solid"/>
            </a:ln>
          </p:spPr>
        </p:sp>
        <p:pic>
          <p:nvPicPr>
            <p:cNvPr id="28" name="Image 28"/>
            <p:cNvPicPr/>
            <p:nvPr/>
          </p:nvPicPr>
          <p:blipFill>
            <a:blip r:embed="rId2" cstate="print"/>
            <a:stretch>
              <a:fillRect/>
            </a:stretch>
          </p:blipFill>
          <p:spPr>
            <a:xfrm>
              <a:off x="1372991" y="74220"/>
              <a:ext cx="2629253" cy="2354585"/>
            </a:xfrm>
            <a:prstGeom prst="rect">
              <a:avLst/>
            </a:prstGeom>
          </p:spPr>
        </p:pic>
        <p:pic>
          <p:nvPicPr>
            <p:cNvPr id="29" name="Image 29"/>
            <p:cNvPicPr/>
            <p:nvPr/>
          </p:nvPicPr>
          <p:blipFill>
            <a:blip r:embed="rId3" cstate="print"/>
            <a:stretch>
              <a:fillRect/>
            </a:stretch>
          </p:blipFill>
          <p:spPr>
            <a:xfrm>
              <a:off x="2586729" y="1623719"/>
              <a:ext cx="611822" cy="611822"/>
            </a:xfrm>
            <a:prstGeom prst="rect">
              <a:avLst/>
            </a:prstGeom>
          </p:spPr>
        </p:pic>
        <p:pic>
          <p:nvPicPr>
            <p:cNvPr id="30" name="Image 30"/>
            <p:cNvPicPr/>
            <p:nvPr/>
          </p:nvPicPr>
          <p:blipFill>
            <a:blip r:embed="rId4" cstate="print"/>
            <a:stretch>
              <a:fillRect/>
            </a:stretch>
          </p:blipFill>
          <p:spPr>
            <a:xfrm>
              <a:off x="1448111" y="1604707"/>
              <a:ext cx="679144" cy="630834"/>
            </a:xfrm>
            <a:prstGeom prst="rect">
              <a:avLst/>
            </a:prstGeom>
          </p:spPr>
        </p:pic>
        <p:sp>
          <p:nvSpPr>
            <p:cNvPr id="31" name="Graphic 31"/>
            <p:cNvSpPr/>
            <p:nvPr/>
          </p:nvSpPr>
          <p:spPr>
            <a:xfrm>
              <a:off x="1740518" y="2286780"/>
              <a:ext cx="99060" cy="59055"/>
            </a:xfrm>
            <a:custGeom>
              <a:avLst/>
              <a:gdLst/>
              <a:ahLst/>
              <a:cxnLst/>
              <a:rect l="l" t="t" r="r" b="b"/>
              <a:pathLst>
                <a:path w="99060" h="59055">
                  <a:moveTo>
                    <a:pt x="31115" y="0"/>
                  </a:moveTo>
                  <a:lnTo>
                    <a:pt x="0" y="0"/>
                  </a:lnTo>
                  <a:lnTo>
                    <a:pt x="0" y="58445"/>
                  </a:lnTo>
                  <a:lnTo>
                    <a:pt x="7734" y="58445"/>
                  </a:lnTo>
                  <a:lnTo>
                    <a:pt x="7734" y="32600"/>
                  </a:lnTo>
                  <a:lnTo>
                    <a:pt x="31807" y="32600"/>
                  </a:lnTo>
                  <a:lnTo>
                    <a:pt x="30251" y="31851"/>
                  </a:lnTo>
                  <a:lnTo>
                    <a:pt x="35864" y="31089"/>
                  </a:lnTo>
                  <a:lnTo>
                    <a:pt x="40017" y="29286"/>
                  </a:lnTo>
                  <a:lnTo>
                    <a:pt x="43295" y="25806"/>
                  </a:lnTo>
                  <a:lnTo>
                    <a:pt x="7734" y="25806"/>
                  </a:lnTo>
                  <a:lnTo>
                    <a:pt x="7734" y="6476"/>
                  </a:lnTo>
                  <a:lnTo>
                    <a:pt x="43872" y="6476"/>
                  </a:lnTo>
                  <a:lnTo>
                    <a:pt x="42659" y="4495"/>
                  </a:lnTo>
                  <a:lnTo>
                    <a:pt x="40500" y="2628"/>
                  </a:lnTo>
                  <a:lnTo>
                    <a:pt x="35077" y="533"/>
                  </a:lnTo>
                  <a:lnTo>
                    <a:pt x="31115" y="0"/>
                  </a:lnTo>
                  <a:close/>
                </a:path>
                <a:path w="99060" h="59055">
                  <a:moveTo>
                    <a:pt x="31807" y="32600"/>
                  </a:moveTo>
                  <a:lnTo>
                    <a:pt x="20129" y="32600"/>
                  </a:lnTo>
                  <a:lnTo>
                    <a:pt x="21268" y="32842"/>
                  </a:lnTo>
                  <a:lnTo>
                    <a:pt x="22212" y="33070"/>
                  </a:lnTo>
                  <a:lnTo>
                    <a:pt x="41783" y="58445"/>
                  </a:lnTo>
                  <a:lnTo>
                    <a:pt x="51498" y="58445"/>
                  </a:lnTo>
                  <a:lnTo>
                    <a:pt x="32308" y="32842"/>
                  </a:lnTo>
                  <a:lnTo>
                    <a:pt x="31807" y="32600"/>
                  </a:lnTo>
                  <a:close/>
                </a:path>
                <a:path w="99060" h="59055">
                  <a:moveTo>
                    <a:pt x="43872" y="6476"/>
                  </a:moveTo>
                  <a:lnTo>
                    <a:pt x="30556" y="6476"/>
                  </a:lnTo>
                  <a:lnTo>
                    <a:pt x="33731" y="7365"/>
                  </a:lnTo>
                  <a:lnTo>
                    <a:pt x="37744" y="10921"/>
                  </a:lnTo>
                  <a:lnTo>
                    <a:pt x="38747" y="13195"/>
                  </a:lnTo>
                  <a:lnTo>
                    <a:pt x="38747" y="17843"/>
                  </a:lnTo>
                  <a:lnTo>
                    <a:pt x="27889" y="25806"/>
                  </a:lnTo>
                  <a:lnTo>
                    <a:pt x="43295" y="25806"/>
                  </a:lnTo>
                  <a:lnTo>
                    <a:pt x="45377" y="23596"/>
                  </a:lnTo>
                  <a:lnTo>
                    <a:pt x="46723" y="20091"/>
                  </a:lnTo>
                  <a:lnTo>
                    <a:pt x="46723" y="12738"/>
                  </a:lnTo>
                  <a:lnTo>
                    <a:pt x="45910" y="9804"/>
                  </a:lnTo>
                  <a:lnTo>
                    <a:pt x="43872" y="6476"/>
                  </a:lnTo>
                  <a:close/>
                </a:path>
                <a:path w="99060" h="59055">
                  <a:moveTo>
                    <a:pt x="98666" y="0"/>
                  </a:moveTo>
                  <a:lnTo>
                    <a:pt x="59232" y="0"/>
                  </a:lnTo>
                  <a:lnTo>
                    <a:pt x="59232" y="58445"/>
                  </a:lnTo>
                  <a:lnTo>
                    <a:pt x="66967" y="58445"/>
                  </a:lnTo>
                  <a:lnTo>
                    <a:pt x="66967" y="31902"/>
                  </a:lnTo>
                  <a:lnTo>
                    <a:pt x="94399" y="31902"/>
                  </a:lnTo>
                  <a:lnTo>
                    <a:pt x="94399" y="25006"/>
                  </a:lnTo>
                  <a:lnTo>
                    <a:pt x="66967" y="25006"/>
                  </a:lnTo>
                  <a:lnTo>
                    <a:pt x="66967" y="6896"/>
                  </a:lnTo>
                  <a:lnTo>
                    <a:pt x="98666" y="6896"/>
                  </a:lnTo>
                  <a:lnTo>
                    <a:pt x="98666" y="0"/>
                  </a:lnTo>
                  <a:close/>
                </a:path>
              </a:pathLst>
            </a:custGeom>
            <a:solidFill>
              <a:srgbClr val="000000"/>
            </a:solidFill>
          </p:spPr>
        </p:sp>
        <p:sp>
          <p:nvSpPr>
            <p:cNvPr id="32" name="Graphic 32"/>
            <p:cNvSpPr/>
            <p:nvPr/>
          </p:nvSpPr>
          <p:spPr>
            <a:xfrm>
              <a:off x="2896127" y="2101061"/>
              <a:ext cx="1270" cy="148590"/>
            </a:xfrm>
            <a:custGeom>
              <a:avLst/>
              <a:gdLst/>
              <a:ahLst/>
              <a:cxnLst/>
              <a:rect l="l" t="t" r="r" b="b"/>
              <a:pathLst>
                <a:path w="635" h="148590">
                  <a:moveTo>
                    <a:pt x="520" y="148132"/>
                  </a:moveTo>
                  <a:lnTo>
                    <a:pt x="520" y="0"/>
                  </a:lnTo>
                  <a:lnTo>
                    <a:pt x="0" y="90919"/>
                  </a:lnTo>
                </a:path>
              </a:pathLst>
            </a:custGeom>
            <a:ln w="7416">
              <a:solidFill>
                <a:srgbClr val="000000"/>
              </a:solidFill>
              <a:prstDash val="solid"/>
            </a:ln>
          </p:spPr>
        </p:sp>
        <p:sp>
          <p:nvSpPr>
            <p:cNvPr id="33" name="Graphic 33"/>
            <p:cNvSpPr/>
            <p:nvPr/>
          </p:nvSpPr>
          <p:spPr>
            <a:xfrm>
              <a:off x="2870235" y="2178829"/>
              <a:ext cx="52069" cy="52705"/>
            </a:xfrm>
            <a:custGeom>
              <a:avLst/>
              <a:gdLst/>
              <a:ahLst/>
              <a:cxnLst/>
              <a:rect l="l" t="t" r="r" b="b"/>
              <a:pathLst>
                <a:path w="52069" h="52705">
                  <a:moveTo>
                    <a:pt x="0" y="0"/>
                  </a:moveTo>
                  <a:lnTo>
                    <a:pt x="25742" y="52108"/>
                  </a:lnTo>
                  <a:lnTo>
                    <a:pt x="51942" y="304"/>
                  </a:lnTo>
                  <a:lnTo>
                    <a:pt x="25895" y="13157"/>
                  </a:lnTo>
                  <a:lnTo>
                    <a:pt x="0" y="0"/>
                  </a:lnTo>
                  <a:close/>
                </a:path>
              </a:pathLst>
            </a:custGeom>
            <a:solidFill>
              <a:srgbClr val="000000"/>
            </a:solidFill>
          </p:spPr>
        </p:sp>
        <p:sp>
          <p:nvSpPr>
            <p:cNvPr id="34" name="Graphic 34"/>
            <p:cNvSpPr/>
            <p:nvPr/>
          </p:nvSpPr>
          <p:spPr>
            <a:xfrm>
              <a:off x="2870235" y="2178829"/>
              <a:ext cx="52069" cy="52705"/>
            </a:xfrm>
            <a:custGeom>
              <a:avLst/>
              <a:gdLst/>
              <a:ahLst/>
              <a:cxnLst/>
              <a:rect l="l" t="t" r="r" b="b"/>
              <a:pathLst>
                <a:path w="52069" h="52705">
                  <a:moveTo>
                    <a:pt x="25742" y="52108"/>
                  </a:moveTo>
                  <a:lnTo>
                    <a:pt x="0" y="0"/>
                  </a:lnTo>
                  <a:lnTo>
                    <a:pt x="25895" y="13157"/>
                  </a:lnTo>
                  <a:lnTo>
                    <a:pt x="51942" y="304"/>
                  </a:lnTo>
                  <a:lnTo>
                    <a:pt x="25742" y="52108"/>
                  </a:lnTo>
                  <a:close/>
                </a:path>
              </a:pathLst>
            </a:custGeom>
            <a:ln w="7416">
              <a:solidFill>
                <a:srgbClr val="000000"/>
              </a:solidFill>
              <a:prstDash val="solid"/>
            </a:ln>
          </p:spPr>
        </p:sp>
        <p:sp>
          <p:nvSpPr>
            <p:cNvPr id="35" name="Graphic 35"/>
            <p:cNvSpPr/>
            <p:nvPr/>
          </p:nvSpPr>
          <p:spPr>
            <a:xfrm>
              <a:off x="2163565" y="1898508"/>
              <a:ext cx="812800" cy="462915"/>
            </a:xfrm>
            <a:custGeom>
              <a:avLst/>
              <a:gdLst/>
              <a:ahLst/>
              <a:cxnLst/>
              <a:rect l="l" t="t" r="r" b="b"/>
              <a:pathLst>
                <a:path w="812800" h="462915">
                  <a:moveTo>
                    <a:pt x="66878" y="75641"/>
                  </a:moveTo>
                  <a:lnTo>
                    <a:pt x="44450" y="44704"/>
                  </a:lnTo>
                  <a:lnTo>
                    <a:pt x="41211" y="42824"/>
                  </a:lnTo>
                  <a:lnTo>
                    <a:pt x="47726" y="41884"/>
                  </a:lnTo>
                  <a:lnTo>
                    <a:pt x="60833" y="27698"/>
                  </a:lnTo>
                  <a:lnTo>
                    <a:pt x="60833" y="17716"/>
                  </a:lnTo>
                  <a:lnTo>
                    <a:pt x="59956" y="14516"/>
                  </a:lnTo>
                  <a:lnTo>
                    <a:pt x="59829" y="14097"/>
                  </a:lnTo>
                  <a:lnTo>
                    <a:pt x="59791" y="13931"/>
                  </a:lnTo>
                  <a:lnTo>
                    <a:pt x="55422" y="6985"/>
                  </a:lnTo>
                  <a:lnTo>
                    <a:pt x="52539" y="4610"/>
                  </a:lnTo>
                  <a:lnTo>
                    <a:pt x="45364" y="1955"/>
                  </a:lnTo>
                  <a:lnTo>
                    <a:pt x="45364" y="20574"/>
                  </a:lnTo>
                  <a:lnTo>
                    <a:pt x="45364" y="25311"/>
                  </a:lnTo>
                  <a:lnTo>
                    <a:pt x="33337" y="32727"/>
                  </a:lnTo>
                  <a:lnTo>
                    <a:pt x="15024" y="32727"/>
                  </a:lnTo>
                  <a:lnTo>
                    <a:pt x="15024" y="13931"/>
                  </a:lnTo>
                  <a:lnTo>
                    <a:pt x="36487" y="13931"/>
                  </a:lnTo>
                  <a:lnTo>
                    <a:pt x="45364" y="20574"/>
                  </a:lnTo>
                  <a:lnTo>
                    <a:pt x="45364" y="1955"/>
                  </a:lnTo>
                  <a:lnTo>
                    <a:pt x="39560" y="1282"/>
                  </a:lnTo>
                  <a:lnTo>
                    <a:pt x="0" y="1282"/>
                  </a:lnTo>
                  <a:lnTo>
                    <a:pt x="0" y="75641"/>
                  </a:lnTo>
                  <a:lnTo>
                    <a:pt x="15024" y="75641"/>
                  </a:lnTo>
                  <a:lnTo>
                    <a:pt x="15024" y="44704"/>
                  </a:lnTo>
                  <a:lnTo>
                    <a:pt x="22440" y="44704"/>
                  </a:lnTo>
                  <a:lnTo>
                    <a:pt x="38049" y="59474"/>
                  </a:lnTo>
                  <a:lnTo>
                    <a:pt x="48907" y="75641"/>
                  </a:lnTo>
                  <a:lnTo>
                    <a:pt x="66878" y="75641"/>
                  </a:lnTo>
                  <a:close/>
                </a:path>
                <a:path w="812800" h="462915">
                  <a:moveTo>
                    <a:pt x="126085" y="1282"/>
                  </a:moveTo>
                  <a:lnTo>
                    <a:pt x="75095" y="1282"/>
                  </a:lnTo>
                  <a:lnTo>
                    <a:pt x="75095" y="75641"/>
                  </a:lnTo>
                  <a:lnTo>
                    <a:pt x="90106" y="75641"/>
                  </a:lnTo>
                  <a:lnTo>
                    <a:pt x="90106" y="44043"/>
                  </a:lnTo>
                  <a:lnTo>
                    <a:pt x="121158" y="44043"/>
                  </a:lnTo>
                  <a:lnTo>
                    <a:pt x="121158" y="31457"/>
                  </a:lnTo>
                  <a:lnTo>
                    <a:pt x="90106" y="31457"/>
                  </a:lnTo>
                  <a:lnTo>
                    <a:pt x="90106" y="13855"/>
                  </a:lnTo>
                  <a:lnTo>
                    <a:pt x="126085" y="13855"/>
                  </a:lnTo>
                  <a:lnTo>
                    <a:pt x="126085" y="1282"/>
                  </a:lnTo>
                  <a:close/>
                </a:path>
                <a:path w="812800" h="462915">
                  <a:moveTo>
                    <a:pt x="200609" y="52920"/>
                  </a:moveTo>
                  <a:lnTo>
                    <a:pt x="186055" y="48310"/>
                  </a:lnTo>
                  <a:lnTo>
                    <a:pt x="184797" y="53733"/>
                  </a:lnTo>
                  <a:lnTo>
                    <a:pt x="182727" y="57734"/>
                  </a:lnTo>
                  <a:lnTo>
                    <a:pt x="176987" y="62814"/>
                  </a:lnTo>
                  <a:lnTo>
                    <a:pt x="173545" y="64084"/>
                  </a:lnTo>
                  <a:lnTo>
                    <a:pt x="164147" y="64084"/>
                  </a:lnTo>
                  <a:lnTo>
                    <a:pt x="159753" y="62090"/>
                  </a:lnTo>
                  <a:lnTo>
                    <a:pt x="152984" y="54102"/>
                  </a:lnTo>
                  <a:lnTo>
                    <a:pt x="151307" y="47434"/>
                  </a:lnTo>
                  <a:lnTo>
                    <a:pt x="151295" y="29133"/>
                  </a:lnTo>
                  <a:lnTo>
                    <a:pt x="153009" y="22733"/>
                  </a:lnTo>
                  <a:lnTo>
                    <a:pt x="159867" y="14820"/>
                  </a:lnTo>
                  <a:lnTo>
                    <a:pt x="164350" y="12839"/>
                  </a:lnTo>
                  <a:lnTo>
                    <a:pt x="173850" y="12839"/>
                  </a:lnTo>
                  <a:lnTo>
                    <a:pt x="177241" y="13957"/>
                  </a:lnTo>
                  <a:lnTo>
                    <a:pt x="182829" y="18415"/>
                  </a:lnTo>
                  <a:lnTo>
                    <a:pt x="184658" y="21463"/>
                  </a:lnTo>
                  <a:lnTo>
                    <a:pt x="185547" y="25311"/>
                  </a:lnTo>
                  <a:lnTo>
                    <a:pt x="200406" y="21767"/>
                  </a:lnTo>
                  <a:lnTo>
                    <a:pt x="179730" y="0"/>
                  </a:lnTo>
                  <a:lnTo>
                    <a:pt x="170624" y="0"/>
                  </a:lnTo>
                  <a:lnTo>
                    <a:pt x="163195" y="647"/>
                  </a:lnTo>
                  <a:lnTo>
                    <a:pt x="156083" y="2692"/>
                  </a:lnTo>
                  <a:lnTo>
                    <a:pt x="156286" y="2692"/>
                  </a:lnTo>
                  <a:lnTo>
                    <a:pt x="150583" y="5791"/>
                  </a:lnTo>
                  <a:lnTo>
                    <a:pt x="135826" y="39116"/>
                  </a:lnTo>
                  <a:lnTo>
                    <a:pt x="136423" y="47434"/>
                  </a:lnTo>
                  <a:lnTo>
                    <a:pt x="138214" y="54813"/>
                  </a:lnTo>
                  <a:lnTo>
                    <a:pt x="141097" y="61036"/>
                  </a:lnTo>
                  <a:lnTo>
                    <a:pt x="141198" y="61264"/>
                  </a:lnTo>
                  <a:lnTo>
                    <a:pt x="169710" y="76911"/>
                  </a:lnTo>
                  <a:lnTo>
                    <a:pt x="177698" y="76911"/>
                  </a:lnTo>
                  <a:lnTo>
                    <a:pt x="184277" y="74942"/>
                  </a:lnTo>
                  <a:lnTo>
                    <a:pt x="194665" y="67056"/>
                  </a:lnTo>
                  <a:lnTo>
                    <a:pt x="196507" y="64084"/>
                  </a:lnTo>
                  <a:lnTo>
                    <a:pt x="198386" y="61036"/>
                  </a:lnTo>
                  <a:lnTo>
                    <a:pt x="200609" y="52920"/>
                  </a:lnTo>
                  <a:close/>
                </a:path>
                <a:path w="812800" h="462915">
                  <a:moveTo>
                    <a:pt x="272643" y="1282"/>
                  </a:moveTo>
                  <a:lnTo>
                    <a:pt x="258699" y="1282"/>
                  </a:lnTo>
                  <a:lnTo>
                    <a:pt x="258699" y="50939"/>
                  </a:lnTo>
                  <a:lnTo>
                    <a:pt x="244119" y="27152"/>
                  </a:lnTo>
                  <a:lnTo>
                    <a:pt x="228257" y="1282"/>
                  </a:lnTo>
                  <a:lnTo>
                    <a:pt x="213652" y="1282"/>
                  </a:lnTo>
                  <a:lnTo>
                    <a:pt x="213652" y="75641"/>
                  </a:lnTo>
                  <a:lnTo>
                    <a:pt x="227596" y="75641"/>
                  </a:lnTo>
                  <a:lnTo>
                    <a:pt x="227596" y="27152"/>
                  </a:lnTo>
                  <a:lnTo>
                    <a:pt x="257581" y="75641"/>
                  </a:lnTo>
                  <a:lnTo>
                    <a:pt x="272643" y="75641"/>
                  </a:lnTo>
                  <a:lnTo>
                    <a:pt x="272643" y="50939"/>
                  </a:lnTo>
                  <a:lnTo>
                    <a:pt x="272643" y="1282"/>
                  </a:lnTo>
                  <a:close/>
                </a:path>
                <a:path w="812800" h="462915">
                  <a:moveTo>
                    <a:pt x="347675" y="1282"/>
                  </a:moveTo>
                  <a:lnTo>
                    <a:pt x="333743" y="1282"/>
                  </a:lnTo>
                  <a:lnTo>
                    <a:pt x="333743" y="50939"/>
                  </a:lnTo>
                  <a:lnTo>
                    <a:pt x="319163" y="27152"/>
                  </a:lnTo>
                  <a:lnTo>
                    <a:pt x="303288" y="1282"/>
                  </a:lnTo>
                  <a:lnTo>
                    <a:pt x="288683" y="1282"/>
                  </a:lnTo>
                  <a:lnTo>
                    <a:pt x="288683" y="75641"/>
                  </a:lnTo>
                  <a:lnTo>
                    <a:pt x="302628" y="75641"/>
                  </a:lnTo>
                  <a:lnTo>
                    <a:pt x="302628" y="27152"/>
                  </a:lnTo>
                  <a:lnTo>
                    <a:pt x="332625" y="75641"/>
                  </a:lnTo>
                  <a:lnTo>
                    <a:pt x="347675" y="75641"/>
                  </a:lnTo>
                  <a:lnTo>
                    <a:pt x="347675" y="50939"/>
                  </a:lnTo>
                  <a:lnTo>
                    <a:pt x="347675" y="1282"/>
                  </a:lnTo>
                  <a:close/>
                </a:path>
                <a:path w="812800" h="462915">
                  <a:moveTo>
                    <a:pt x="698106" y="443039"/>
                  </a:moveTo>
                  <a:lnTo>
                    <a:pt x="690803" y="441198"/>
                  </a:lnTo>
                  <a:lnTo>
                    <a:pt x="690333" y="441198"/>
                  </a:lnTo>
                  <a:lnTo>
                    <a:pt x="689305" y="446011"/>
                  </a:lnTo>
                  <a:lnTo>
                    <a:pt x="687273" y="449707"/>
                  </a:lnTo>
                  <a:lnTo>
                    <a:pt x="681278" y="454710"/>
                  </a:lnTo>
                  <a:lnTo>
                    <a:pt x="677608" y="455955"/>
                  </a:lnTo>
                  <a:lnTo>
                    <a:pt x="669721" y="455955"/>
                  </a:lnTo>
                  <a:lnTo>
                    <a:pt x="654405" y="428028"/>
                  </a:lnTo>
                  <a:lnTo>
                    <a:pt x="655027" y="424281"/>
                  </a:lnTo>
                  <a:lnTo>
                    <a:pt x="657479" y="417029"/>
                  </a:lnTo>
                  <a:lnTo>
                    <a:pt x="659599" y="414134"/>
                  </a:lnTo>
                  <a:lnTo>
                    <a:pt x="665619" y="409841"/>
                  </a:lnTo>
                  <a:lnTo>
                    <a:pt x="669378" y="408749"/>
                  </a:lnTo>
                  <a:lnTo>
                    <a:pt x="677773" y="408749"/>
                  </a:lnTo>
                  <a:lnTo>
                    <a:pt x="681393" y="409841"/>
                  </a:lnTo>
                  <a:lnTo>
                    <a:pt x="681164" y="409841"/>
                  </a:lnTo>
                  <a:lnTo>
                    <a:pt x="686168" y="413613"/>
                  </a:lnTo>
                  <a:lnTo>
                    <a:pt x="688149" y="416712"/>
                  </a:lnTo>
                  <a:lnTo>
                    <a:pt x="689495" y="420954"/>
                  </a:lnTo>
                  <a:lnTo>
                    <a:pt x="697115" y="419163"/>
                  </a:lnTo>
                  <a:lnTo>
                    <a:pt x="695642" y="414134"/>
                  </a:lnTo>
                  <a:lnTo>
                    <a:pt x="695540" y="413766"/>
                  </a:lnTo>
                  <a:lnTo>
                    <a:pt x="692759" y="409587"/>
                  </a:lnTo>
                  <a:lnTo>
                    <a:pt x="691629" y="408749"/>
                  </a:lnTo>
                  <a:lnTo>
                    <a:pt x="684796" y="403631"/>
                  </a:lnTo>
                  <a:lnTo>
                    <a:pt x="679869" y="402145"/>
                  </a:lnTo>
                  <a:lnTo>
                    <a:pt x="668870" y="402145"/>
                  </a:lnTo>
                  <a:lnTo>
                    <a:pt x="664146" y="403313"/>
                  </a:lnTo>
                  <a:lnTo>
                    <a:pt x="655561" y="408025"/>
                  </a:lnTo>
                  <a:lnTo>
                    <a:pt x="652259" y="411454"/>
                  </a:lnTo>
                  <a:lnTo>
                    <a:pt x="647598" y="420535"/>
                  </a:lnTo>
                  <a:lnTo>
                    <a:pt x="646442" y="425843"/>
                  </a:lnTo>
                  <a:lnTo>
                    <a:pt x="646442" y="437502"/>
                  </a:lnTo>
                  <a:lnTo>
                    <a:pt x="667600" y="462572"/>
                  </a:lnTo>
                  <a:lnTo>
                    <a:pt x="679996" y="462572"/>
                  </a:lnTo>
                  <a:lnTo>
                    <a:pt x="685139" y="460908"/>
                  </a:lnTo>
                  <a:lnTo>
                    <a:pt x="691388" y="455955"/>
                  </a:lnTo>
                  <a:lnTo>
                    <a:pt x="693559" y="454240"/>
                  </a:lnTo>
                  <a:lnTo>
                    <a:pt x="696480" y="449389"/>
                  </a:lnTo>
                  <a:lnTo>
                    <a:pt x="698106" y="443039"/>
                  </a:lnTo>
                  <a:close/>
                </a:path>
                <a:path w="812800" h="462915">
                  <a:moveTo>
                    <a:pt x="753592" y="403148"/>
                  </a:moveTo>
                  <a:lnTo>
                    <a:pt x="746175" y="403148"/>
                  </a:lnTo>
                  <a:lnTo>
                    <a:pt x="746175" y="449021"/>
                  </a:lnTo>
                  <a:lnTo>
                    <a:pt x="723836" y="415645"/>
                  </a:lnTo>
                  <a:lnTo>
                    <a:pt x="715479" y="403148"/>
                  </a:lnTo>
                  <a:lnTo>
                    <a:pt x="707555" y="403148"/>
                  </a:lnTo>
                  <a:lnTo>
                    <a:pt x="707555" y="461581"/>
                  </a:lnTo>
                  <a:lnTo>
                    <a:pt x="714971" y="461581"/>
                  </a:lnTo>
                  <a:lnTo>
                    <a:pt x="714971" y="415645"/>
                  </a:lnTo>
                  <a:lnTo>
                    <a:pt x="745655" y="461581"/>
                  </a:lnTo>
                  <a:lnTo>
                    <a:pt x="753592" y="461581"/>
                  </a:lnTo>
                  <a:lnTo>
                    <a:pt x="753592" y="449021"/>
                  </a:lnTo>
                  <a:lnTo>
                    <a:pt x="753592" y="403148"/>
                  </a:lnTo>
                  <a:close/>
                </a:path>
                <a:path w="812800" h="462915">
                  <a:moveTo>
                    <a:pt x="812558" y="403148"/>
                  </a:moveTo>
                  <a:lnTo>
                    <a:pt x="805141" y="403148"/>
                  </a:lnTo>
                  <a:lnTo>
                    <a:pt x="805141" y="449021"/>
                  </a:lnTo>
                  <a:lnTo>
                    <a:pt x="782802" y="415645"/>
                  </a:lnTo>
                  <a:lnTo>
                    <a:pt x="774446" y="403148"/>
                  </a:lnTo>
                  <a:lnTo>
                    <a:pt x="766508" y="403148"/>
                  </a:lnTo>
                  <a:lnTo>
                    <a:pt x="766508" y="461581"/>
                  </a:lnTo>
                  <a:lnTo>
                    <a:pt x="773925" y="461581"/>
                  </a:lnTo>
                  <a:lnTo>
                    <a:pt x="773925" y="415645"/>
                  </a:lnTo>
                  <a:lnTo>
                    <a:pt x="804621" y="461581"/>
                  </a:lnTo>
                  <a:lnTo>
                    <a:pt x="812558" y="461581"/>
                  </a:lnTo>
                  <a:lnTo>
                    <a:pt x="812558" y="449021"/>
                  </a:lnTo>
                  <a:lnTo>
                    <a:pt x="812558" y="403148"/>
                  </a:lnTo>
                  <a:close/>
                </a:path>
              </a:pathLst>
            </a:custGeom>
            <a:solidFill>
              <a:srgbClr val="000000"/>
            </a:solidFill>
          </p:spPr>
        </p:sp>
        <p:sp>
          <p:nvSpPr>
            <p:cNvPr id="36" name="Graphic 36"/>
            <p:cNvSpPr/>
            <p:nvPr/>
          </p:nvSpPr>
          <p:spPr>
            <a:xfrm>
              <a:off x="894302" y="300581"/>
              <a:ext cx="806450" cy="1929764"/>
            </a:xfrm>
            <a:custGeom>
              <a:avLst/>
              <a:gdLst/>
              <a:ahLst/>
              <a:cxnLst/>
              <a:rect l="l" t="t" r="r" b="b"/>
              <a:pathLst>
                <a:path w="806450" h="1929764">
                  <a:moveTo>
                    <a:pt x="0" y="1929612"/>
                  </a:moveTo>
                  <a:lnTo>
                    <a:pt x="259753" y="1929612"/>
                  </a:lnTo>
                  <a:lnTo>
                    <a:pt x="259753" y="0"/>
                  </a:lnTo>
                  <a:lnTo>
                    <a:pt x="806208" y="0"/>
                  </a:lnTo>
                </a:path>
              </a:pathLst>
            </a:custGeom>
            <a:ln w="7416">
              <a:solidFill>
                <a:srgbClr val="000000"/>
              </a:solidFill>
              <a:prstDash val="solid"/>
            </a:ln>
          </p:spPr>
        </p:sp>
        <p:sp>
          <p:nvSpPr>
            <p:cNvPr id="37" name="Graphic 37"/>
            <p:cNvSpPr/>
            <p:nvPr/>
          </p:nvSpPr>
          <p:spPr>
            <a:xfrm>
              <a:off x="1687528" y="274604"/>
              <a:ext cx="52069" cy="52069"/>
            </a:xfrm>
            <a:custGeom>
              <a:avLst/>
              <a:gdLst/>
              <a:ahLst/>
              <a:cxnLst/>
              <a:rect l="l" t="t" r="r" b="b"/>
              <a:pathLst>
                <a:path w="52069" h="52069">
                  <a:moveTo>
                    <a:pt x="0" y="0"/>
                  </a:moveTo>
                  <a:lnTo>
                    <a:pt x="12979" y="25971"/>
                  </a:lnTo>
                  <a:lnTo>
                    <a:pt x="0" y="51942"/>
                  </a:lnTo>
                  <a:lnTo>
                    <a:pt x="51943" y="25971"/>
                  </a:lnTo>
                  <a:lnTo>
                    <a:pt x="0" y="0"/>
                  </a:lnTo>
                  <a:close/>
                </a:path>
              </a:pathLst>
            </a:custGeom>
            <a:solidFill>
              <a:srgbClr val="000000"/>
            </a:solidFill>
          </p:spPr>
        </p:sp>
        <p:sp>
          <p:nvSpPr>
            <p:cNvPr id="38" name="Graphic 38"/>
            <p:cNvSpPr/>
            <p:nvPr/>
          </p:nvSpPr>
          <p:spPr>
            <a:xfrm>
              <a:off x="1687528" y="274604"/>
              <a:ext cx="52069" cy="52069"/>
            </a:xfrm>
            <a:custGeom>
              <a:avLst/>
              <a:gdLst/>
              <a:ahLst/>
              <a:cxnLst/>
              <a:rect l="l" t="t" r="r" b="b"/>
              <a:pathLst>
                <a:path w="52069" h="52069">
                  <a:moveTo>
                    <a:pt x="51943" y="25971"/>
                  </a:moveTo>
                  <a:lnTo>
                    <a:pt x="0" y="51942"/>
                  </a:lnTo>
                  <a:lnTo>
                    <a:pt x="12979" y="25971"/>
                  </a:lnTo>
                  <a:lnTo>
                    <a:pt x="0" y="0"/>
                  </a:lnTo>
                  <a:lnTo>
                    <a:pt x="51943" y="25971"/>
                  </a:lnTo>
                  <a:close/>
                </a:path>
              </a:pathLst>
            </a:custGeom>
            <a:ln w="7416">
              <a:solidFill>
                <a:srgbClr val="000000"/>
              </a:solidFill>
              <a:prstDash val="solid"/>
            </a:ln>
          </p:spPr>
        </p:sp>
        <p:pic>
          <p:nvPicPr>
            <p:cNvPr id="39" name="Image 39"/>
            <p:cNvPicPr/>
            <p:nvPr/>
          </p:nvPicPr>
          <p:blipFill>
            <a:blip r:embed="rId5" cstate="print"/>
            <a:stretch>
              <a:fillRect/>
            </a:stretch>
          </p:blipFill>
          <p:spPr>
            <a:xfrm>
              <a:off x="2" y="2003838"/>
              <a:ext cx="898004" cy="452716"/>
            </a:xfrm>
            <a:prstGeom prst="rect">
              <a:avLst/>
            </a:prstGeom>
          </p:spPr>
        </p:pic>
        <p:pic>
          <p:nvPicPr>
            <p:cNvPr id="40" name="Image 40"/>
            <p:cNvPicPr/>
            <p:nvPr/>
          </p:nvPicPr>
          <p:blipFill>
            <a:blip r:embed="rId6" cstate="print"/>
            <a:stretch>
              <a:fillRect/>
            </a:stretch>
          </p:blipFill>
          <p:spPr>
            <a:xfrm>
              <a:off x="3655142" y="519520"/>
              <a:ext cx="898016" cy="1703636"/>
            </a:xfrm>
            <a:prstGeom prst="rect">
              <a:avLst/>
            </a:prstGeom>
          </p:spPr>
        </p:pic>
        <p:pic>
          <p:nvPicPr>
            <p:cNvPr id="41" name="Image 41"/>
            <p:cNvPicPr/>
            <p:nvPr/>
          </p:nvPicPr>
          <p:blipFill>
            <a:blip r:embed="rId7" cstate="print"/>
            <a:stretch>
              <a:fillRect/>
            </a:stretch>
          </p:blipFill>
          <p:spPr>
            <a:xfrm>
              <a:off x="2088592" y="2281472"/>
              <a:ext cx="573195" cy="82511"/>
            </a:xfrm>
            <a:prstGeom prst="rect">
              <a:avLst/>
            </a:prstGeom>
          </p:spPr>
        </p:pic>
        <p:pic>
          <p:nvPicPr>
            <p:cNvPr id="42" name="Image 42"/>
            <p:cNvPicPr/>
            <p:nvPr/>
          </p:nvPicPr>
          <p:blipFill>
            <a:blip r:embed="rId8" cstate="print"/>
            <a:stretch>
              <a:fillRect/>
            </a:stretch>
          </p:blipFill>
          <p:spPr>
            <a:xfrm>
              <a:off x="185092" y="245881"/>
              <a:ext cx="594619" cy="400767"/>
            </a:xfrm>
            <a:prstGeom prst="rect">
              <a:avLst/>
            </a:prstGeom>
          </p:spPr>
        </p:pic>
        <p:pic>
          <p:nvPicPr>
            <p:cNvPr id="43" name="Image 43"/>
            <p:cNvPicPr/>
            <p:nvPr/>
          </p:nvPicPr>
          <p:blipFill>
            <a:blip r:embed="rId9" cstate="print"/>
            <a:stretch>
              <a:fillRect/>
            </a:stretch>
          </p:blipFill>
          <p:spPr>
            <a:xfrm>
              <a:off x="183360" y="68821"/>
              <a:ext cx="602170" cy="43205"/>
            </a:xfrm>
            <a:prstGeom prst="rect">
              <a:avLst/>
            </a:prstGeom>
          </p:spPr>
        </p:pic>
        <p:sp>
          <p:nvSpPr>
            <p:cNvPr id="44" name="Graphic 44"/>
            <p:cNvSpPr/>
            <p:nvPr/>
          </p:nvSpPr>
          <p:spPr>
            <a:xfrm>
              <a:off x="486108" y="745876"/>
              <a:ext cx="1270" cy="250190"/>
            </a:xfrm>
            <a:custGeom>
              <a:avLst/>
              <a:gdLst/>
              <a:ahLst/>
              <a:cxnLst/>
              <a:rect l="l" t="t" r="r" b="b"/>
              <a:pathLst>
                <a:path h="250190">
                  <a:moveTo>
                    <a:pt x="0" y="0"/>
                  </a:moveTo>
                  <a:lnTo>
                    <a:pt x="0" y="249593"/>
                  </a:lnTo>
                </a:path>
              </a:pathLst>
            </a:custGeom>
            <a:ln w="7416">
              <a:solidFill>
                <a:srgbClr val="000000"/>
              </a:solidFill>
              <a:prstDash val="solid"/>
            </a:ln>
          </p:spPr>
        </p:sp>
        <p:sp>
          <p:nvSpPr>
            <p:cNvPr id="45" name="Graphic 45"/>
            <p:cNvSpPr/>
            <p:nvPr/>
          </p:nvSpPr>
          <p:spPr>
            <a:xfrm>
              <a:off x="460137" y="982473"/>
              <a:ext cx="52069" cy="52069"/>
            </a:xfrm>
            <a:custGeom>
              <a:avLst/>
              <a:gdLst/>
              <a:ahLst/>
              <a:cxnLst/>
              <a:rect l="l" t="t" r="r" b="b"/>
              <a:pathLst>
                <a:path w="52069" h="52069">
                  <a:moveTo>
                    <a:pt x="51942" y="0"/>
                  </a:moveTo>
                  <a:lnTo>
                    <a:pt x="25971" y="12992"/>
                  </a:lnTo>
                  <a:lnTo>
                    <a:pt x="0" y="0"/>
                  </a:lnTo>
                  <a:lnTo>
                    <a:pt x="25971" y="51955"/>
                  </a:lnTo>
                  <a:lnTo>
                    <a:pt x="51942" y="0"/>
                  </a:lnTo>
                  <a:close/>
                </a:path>
              </a:pathLst>
            </a:custGeom>
            <a:solidFill>
              <a:srgbClr val="000000"/>
            </a:solidFill>
          </p:spPr>
        </p:sp>
        <p:sp>
          <p:nvSpPr>
            <p:cNvPr id="46" name="Graphic 46"/>
            <p:cNvSpPr/>
            <p:nvPr/>
          </p:nvSpPr>
          <p:spPr>
            <a:xfrm>
              <a:off x="460137" y="982473"/>
              <a:ext cx="52069" cy="52069"/>
            </a:xfrm>
            <a:custGeom>
              <a:avLst/>
              <a:gdLst/>
              <a:ahLst/>
              <a:cxnLst/>
              <a:rect l="l" t="t" r="r" b="b"/>
              <a:pathLst>
                <a:path w="52069" h="52069">
                  <a:moveTo>
                    <a:pt x="25971" y="51955"/>
                  </a:moveTo>
                  <a:lnTo>
                    <a:pt x="0" y="0"/>
                  </a:lnTo>
                  <a:lnTo>
                    <a:pt x="25971" y="12992"/>
                  </a:lnTo>
                  <a:lnTo>
                    <a:pt x="51942" y="0"/>
                  </a:lnTo>
                  <a:lnTo>
                    <a:pt x="25971" y="51955"/>
                  </a:lnTo>
                  <a:close/>
                </a:path>
              </a:pathLst>
            </a:custGeom>
            <a:ln w="7416">
              <a:solidFill>
                <a:srgbClr val="000000"/>
              </a:solidFill>
              <a:prstDash val="solid"/>
            </a:ln>
          </p:spPr>
        </p:sp>
        <p:sp>
          <p:nvSpPr>
            <p:cNvPr id="47" name="Graphic 47"/>
            <p:cNvSpPr/>
            <p:nvPr/>
          </p:nvSpPr>
          <p:spPr>
            <a:xfrm>
              <a:off x="478246" y="1656202"/>
              <a:ext cx="1270" cy="304165"/>
            </a:xfrm>
            <a:custGeom>
              <a:avLst/>
              <a:gdLst/>
              <a:ahLst/>
              <a:cxnLst/>
              <a:rect l="l" t="t" r="r" b="b"/>
              <a:pathLst>
                <a:path w="635" h="304165">
                  <a:moveTo>
                    <a:pt x="0" y="0"/>
                  </a:moveTo>
                  <a:lnTo>
                    <a:pt x="368" y="304076"/>
                  </a:lnTo>
                </a:path>
              </a:pathLst>
            </a:custGeom>
            <a:ln w="7416">
              <a:solidFill>
                <a:srgbClr val="000000"/>
              </a:solidFill>
              <a:prstDash val="solid"/>
            </a:ln>
          </p:spPr>
        </p:sp>
        <p:sp>
          <p:nvSpPr>
            <p:cNvPr id="48" name="Graphic 48"/>
            <p:cNvSpPr/>
            <p:nvPr/>
          </p:nvSpPr>
          <p:spPr>
            <a:xfrm>
              <a:off x="452645" y="1947282"/>
              <a:ext cx="52069" cy="52069"/>
            </a:xfrm>
            <a:custGeom>
              <a:avLst/>
              <a:gdLst/>
              <a:ahLst/>
              <a:cxnLst/>
              <a:rect l="l" t="t" r="r" b="b"/>
              <a:pathLst>
                <a:path w="52069" h="52069">
                  <a:moveTo>
                    <a:pt x="51955" y="0"/>
                  </a:moveTo>
                  <a:lnTo>
                    <a:pt x="25971" y="13004"/>
                  </a:lnTo>
                  <a:lnTo>
                    <a:pt x="0" y="76"/>
                  </a:lnTo>
                  <a:lnTo>
                    <a:pt x="26047" y="51955"/>
                  </a:lnTo>
                  <a:lnTo>
                    <a:pt x="51955" y="0"/>
                  </a:lnTo>
                  <a:close/>
                </a:path>
              </a:pathLst>
            </a:custGeom>
            <a:solidFill>
              <a:srgbClr val="000000"/>
            </a:solidFill>
          </p:spPr>
        </p:sp>
        <p:sp>
          <p:nvSpPr>
            <p:cNvPr id="49" name="Graphic 49"/>
            <p:cNvSpPr/>
            <p:nvPr/>
          </p:nvSpPr>
          <p:spPr>
            <a:xfrm>
              <a:off x="452645" y="1947282"/>
              <a:ext cx="52069" cy="52069"/>
            </a:xfrm>
            <a:custGeom>
              <a:avLst/>
              <a:gdLst/>
              <a:ahLst/>
              <a:cxnLst/>
              <a:rect l="l" t="t" r="r" b="b"/>
              <a:pathLst>
                <a:path w="52069" h="52069">
                  <a:moveTo>
                    <a:pt x="26047" y="51955"/>
                  </a:moveTo>
                  <a:lnTo>
                    <a:pt x="0" y="76"/>
                  </a:lnTo>
                  <a:lnTo>
                    <a:pt x="25971" y="13004"/>
                  </a:lnTo>
                  <a:lnTo>
                    <a:pt x="51955" y="0"/>
                  </a:lnTo>
                  <a:lnTo>
                    <a:pt x="26047" y="51955"/>
                  </a:lnTo>
                  <a:close/>
                </a:path>
              </a:pathLst>
            </a:custGeom>
            <a:ln w="7416">
              <a:solidFill>
                <a:srgbClr val="000000"/>
              </a:solidFill>
              <a:prstDash val="solid"/>
            </a:ln>
          </p:spPr>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p:txBody>
          <a:bodyPr vert="horz" wrap="square" lIns="91440" tIns="45720" rIns="91440" bIns="45720" anchor="ctr" anchorCtr="0"/>
          <a:p>
            <a:pPr eaLnBrk="1" hangingPunct="1">
              <a:buNone/>
            </a:pPr>
            <a:r>
              <a:rPr lang="en-IN" altLang="en-US" b="1" dirty="0">
                <a:solidFill>
                  <a:srgbClr val="0070C0"/>
                </a:solidFill>
                <a:latin typeface="Times New Roman" panose="02020603050405020304" pitchFamily="18" charset="0"/>
                <a:cs typeface="Times New Roman" panose="02020603050405020304" pitchFamily="18" charset="0"/>
              </a:rPr>
              <a:t>UML Diagrams</a:t>
            </a:r>
            <a:endParaRPr lang="en-IN" altLang="x-none" dirty="0"/>
          </a:p>
        </p:txBody>
      </p:sp>
      <p:sp>
        <p:nvSpPr>
          <p:cNvPr id="20483" name="Content Placeholder 2"/>
          <p:cNvSpPr>
            <a:spLocks noGrp="1"/>
          </p:cNvSpPr>
          <p:nvPr>
            <p:ph idx="1"/>
          </p:nvPr>
        </p:nvSpPr>
        <p:spPr/>
        <p:txBody>
          <a:bodyPr vert="horz" wrap="square" lIns="91440" tIns="45720" rIns="91440" bIns="45720" anchor="t" anchorCtr="0"/>
          <a:p>
            <a:pPr eaLnBrk="1" hangingPunct="1"/>
            <a:r>
              <a:rPr lang="en-IN" altLang="x-none" dirty="0"/>
              <a:t>USE CASE DIAGRAM </a:t>
            </a:r>
            <a:endParaRPr lang="en-IN" altLang="x-none" dirty="0"/>
          </a:p>
          <a:p>
            <a:pPr marL="0" indent="0" eaLnBrk="1" hangingPunct="1">
              <a:buNone/>
            </a:pPr>
            <a:r>
              <a:rPr lang="en-IN" altLang="x-none" dirty="0"/>
              <a:t>   </a:t>
            </a:r>
            <a:endParaRPr lang="en-IN" altLang="x-none" dirty="0"/>
          </a:p>
        </p:txBody>
      </p:sp>
      <p:sp>
        <p:nvSpPr>
          <p:cNvPr id="20484"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IN" altLang="en-US" sz="1200" dirty="0">
                <a:solidFill>
                  <a:srgbClr val="898989"/>
                </a:solidFill>
                <a:latin typeface="Calibri" panose="020F0502020204030204" pitchFamily="34" charset="0"/>
              </a:rPr>
            </a:fld>
            <a:endParaRPr lang="en-IN" altLang="en-US" sz="1200" dirty="0">
              <a:solidFill>
                <a:srgbClr val="898989"/>
              </a:solidFill>
              <a:latin typeface="Calibri" panose="020F0502020204030204" pitchFamily="34" charset="0"/>
            </a:endParaRPr>
          </a:p>
        </p:txBody>
      </p:sp>
      <p:pic>
        <p:nvPicPr>
          <p:cNvPr id="18" name="Picture 9"/>
          <p:cNvPicPr>
            <a:picLocks noChangeAspect="1" noChangeArrowheads="1"/>
          </p:cNvPicPr>
          <p:nvPr/>
        </p:nvPicPr>
        <p:blipFill>
          <a:blip r:embed="rId1"/>
          <a:srcRect/>
          <a:stretch>
            <a:fillRect/>
          </a:stretch>
        </p:blipFill>
        <p:spPr>
          <a:xfrm>
            <a:off x="3946525" y="355600"/>
            <a:ext cx="4298950" cy="61468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1"/>
          <p:cNvSpPr>
            <a:spLocks noGrp="1"/>
          </p:cNvSpPr>
          <p:nvPr>
            <p:ph type="title"/>
          </p:nvPr>
        </p:nvSpPr>
        <p:spPr/>
        <p:txBody>
          <a:bodyPr vert="horz" wrap="square" lIns="91440" tIns="45720" rIns="91440" bIns="45720" anchor="ctr" anchorCtr="0"/>
          <a:p>
            <a:pPr eaLnBrk="1" hangingPunct="1">
              <a:buNone/>
            </a:pPr>
            <a:r>
              <a:rPr lang="en-IN" altLang="en-US" b="1" dirty="0">
                <a:solidFill>
                  <a:srgbClr val="0070C0"/>
                </a:solidFill>
                <a:latin typeface="Times New Roman" panose="02020603050405020304" pitchFamily="18" charset="0"/>
                <a:cs typeface="Times New Roman" panose="02020603050405020304" pitchFamily="18" charset="0"/>
              </a:rPr>
              <a:t>UML Diagrams</a:t>
            </a:r>
            <a:endParaRPr lang="en-IN" altLang="x-none" dirty="0"/>
          </a:p>
        </p:txBody>
      </p:sp>
      <p:sp>
        <p:nvSpPr>
          <p:cNvPr id="22531" name="Content Placeholder 2"/>
          <p:cNvSpPr>
            <a:spLocks noGrp="1"/>
          </p:cNvSpPr>
          <p:nvPr>
            <p:ph idx="1"/>
          </p:nvPr>
        </p:nvSpPr>
        <p:spPr/>
        <p:txBody>
          <a:bodyPr vert="horz" wrap="square" lIns="91440" tIns="45720" rIns="91440" bIns="45720" anchor="t" anchorCtr="0"/>
          <a:p>
            <a:pPr eaLnBrk="1" hangingPunct="1"/>
            <a:r>
              <a:rPr lang="en-IN" altLang="en-US" dirty="0"/>
              <a:t>SEQUENCE DIAGRAM</a:t>
            </a:r>
            <a:endParaRPr lang="en-IN" altLang="en-US" dirty="0"/>
          </a:p>
        </p:txBody>
      </p:sp>
      <p:sp>
        <p:nvSpPr>
          <p:cNvPr id="22532"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IN" altLang="en-US" sz="1200" dirty="0">
                <a:solidFill>
                  <a:srgbClr val="898989"/>
                </a:solidFill>
                <a:latin typeface="Calibri" panose="020F0502020204030204" pitchFamily="34" charset="0"/>
              </a:rPr>
            </a:fld>
            <a:endParaRPr lang="en-IN" altLang="en-US" sz="1200" dirty="0">
              <a:solidFill>
                <a:srgbClr val="898989"/>
              </a:solidFill>
              <a:latin typeface="Calibri" panose="020F0502020204030204" pitchFamily="34" charset="0"/>
            </a:endParaRPr>
          </a:p>
        </p:txBody>
      </p:sp>
      <p:pic>
        <p:nvPicPr>
          <p:cNvPr id="19" name="Picture 10"/>
          <p:cNvPicPr>
            <a:picLocks noChangeAspect="1" noChangeArrowheads="1"/>
          </p:cNvPicPr>
          <p:nvPr/>
        </p:nvPicPr>
        <p:blipFill>
          <a:blip r:embed="rId1"/>
          <a:srcRect/>
          <a:stretch>
            <a:fillRect/>
          </a:stretch>
        </p:blipFill>
        <p:spPr>
          <a:xfrm>
            <a:off x="4573905" y="1661795"/>
            <a:ext cx="4224020" cy="490410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1"/>
          <p:cNvSpPr>
            <a:spLocks noGrp="1"/>
          </p:cNvSpPr>
          <p:nvPr>
            <p:ph type="title"/>
          </p:nvPr>
        </p:nvSpPr>
        <p:spPr/>
        <p:txBody>
          <a:bodyPr vert="horz" wrap="square" lIns="91440" tIns="45720" rIns="91440" bIns="45720" anchor="ctr" anchorCtr="0"/>
          <a:p>
            <a:pPr eaLnBrk="1" hangingPunct="1">
              <a:buNone/>
            </a:pPr>
            <a:r>
              <a:rPr lang="en-IN" altLang="en-US" b="1" dirty="0">
                <a:solidFill>
                  <a:srgbClr val="0070C0"/>
                </a:solidFill>
                <a:latin typeface="Times New Roman" panose="02020603050405020304" pitchFamily="18" charset="0"/>
                <a:cs typeface="Times New Roman" panose="02020603050405020304" pitchFamily="18" charset="0"/>
              </a:rPr>
              <a:t>UML Diagrams</a:t>
            </a:r>
            <a:endParaRPr lang="en-IN" altLang="x-none" dirty="0"/>
          </a:p>
        </p:txBody>
      </p:sp>
      <p:sp>
        <p:nvSpPr>
          <p:cNvPr id="21507" name="Content Placeholder 2"/>
          <p:cNvSpPr>
            <a:spLocks noGrp="1"/>
          </p:cNvSpPr>
          <p:nvPr>
            <p:ph idx="1"/>
          </p:nvPr>
        </p:nvSpPr>
        <p:spPr/>
        <p:txBody>
          <a:bodyPr vert="horz" wrap="square" lIns="91440" tIns="45720" rIns="91440" bIns="45720" anchor="t" anchorCtr="0"/>
          <a:p>
            <a:pPr eaLnBrk="1" hangingPunct="1"/>
            <a:r>
              <a:rPr lang="en-IN" altLang="x-none" dirty="0"/>
              <a:t>CLASS DIAGRAM:</a:t>
            </a:r>
            <a:endParaRPr lang="en-IN" altLang="x-none" dirty="0"/>
          </a:p>
        </p:txBody>
      </p:sp>
      <p:sp>
        <p:nvSpPr>
          <p:cNvPr id="21508"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IN" altLang="en-US" sz="1200" dirty="0">
                <a:solidFill>
                  <a:srgbClr val="898989"/>
                </a:solidFill>
                <a:latin typeface="Calibri" panose="020F0502020204030204" pitchFamily="34" charset="0"/>
              </a:rPr>
            </a:fld>
            <a:endParaRPr lang="en-IN" altLang="en-US" sz="1200" dirty="0">
              <a:solidFill>
                <a:srgbClr val="898989"/>
              </a:solidFill>
              <a:latin typeface="Calibri" panose="020F0502020204030204" pitchFamily="34" charset="0"/>
            </a:endParaRPr>
          </a:p>
        </p:txBody>
      </p:sp>
      <p:pic>
        <p:nvPicPr>
          <p:cNvPr id="17" name="Picture 8"/>
          <p:cNvPicPr>
            <a:picLocks noChangeAspect="1" noChangeArrowheads="1"/>
          </p:cNvPicPr>
          <p:nvPr/>
        </p:nvPicPr>
        <p:blipFill>
          <a:blip r:embed="rId1"/>
          <a:srcRect/>
          <a:stretch>
            <a:fillRect/>
          </a:stretch>
        </p:blipFill>
        <p:spPr>
          <a:xfrm>
            <a:off x="4810125" y="2479675"/>
            <a:ext cx="2571750" cy="279082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itle 1"/>
          <p:cNvSpPr>
            <a:spLocks noGrp="1"/>
          </p:cNvSpPr>
          <p:nvPr>
            <p:ph type="title"/>
          </p:nvPr>
        </p:nvSpPr>
        <p:spPr/>
        <p:txBody>
          <a:bodyPr vert="horz" wrap="square" lIns="91440" tIns="45720" rIns="91440" bIns="45720" anchor="ctr" anchorCtr="0"/>
          <a:p>
            <a:pPr eaLnBrk="1" hangingPunct="1">
              <a:buNone/>
            </a:pPr>
            <a:r>
              <a:rPr lang="en-IN" altLang="en-US" b="1" dirty="0">
                <a:solidFill>
                  <a:srgbClr val="0070C0"/>
                </a:solidFill>
                <a:latin typeface="Times New Roman" panose="02020603050405020304" pitchFamily="18" charset="0"/>
                <a:cs typeface="Times New Roman" panose="02020603050405020304" pitchFamily="18" charset="0"/>
              </a:rPr>
              <a:t>UML Diagrams</a:t>
            </a:r>
            <a:endParaRPr lang="en-IN" altLang="x-none" dirty="0"/>
          </a:p>
        </p:txBody>
      </p:sp>
      <p:sp>
        <p:nvSpPr>
          <p:cNvPr id="23555" name="Content Placeholder 2"/>
          <p:cNvSpPr>
            <a:spLocks noGrp="1"/>
          </p:cNvSpPr>
          <p:nvPr>
            <p:ph idx="1"/>
          </p:nvPr>
        </p:nvSpPr>
        <p:spPr/>
        <p:txBody>
          <a:bodyPr vert="horz" wrap="square" lIns="91440" tIns="45720" rIns="91440" bIns="45720" anchor="t" anchorCtr="0"/>
          <a:p>
            <a:pPr eaLnBrk="1" hangingPunct="1"/>
            <a:r>
              <a:rPr lang="en-IN" altLang="x-none" dirty="0"/>
              <a:t>COLLABORATION DIAGRAM</a:t>
            </a:r>
            <a:endParaRPr lang="en-IN" altLang="x-none" dirty="0"/>
          </a:p>
        </p:txBody>
      </p:sp>
      <p:sp>
        <p:nvSpPr>
          <p:cNvPr id="23556"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IN" altLang="en-US" sz="1200" dirty="0">
                <a:solidFill>
                  <a:srgbClr val="898989"/>
                </a:solidFill>
                <a:latin typeface="Calibri" panose="020F0502020204030204" pitchFamily="34" charset="0"/>
              </a:rPr>
            </a:fld>
            <a:endParaRPr lang="en-IN" altLang="en-US" sz="1200" dirty="0">
              <a:solidFill>
                <a:srgbClr val="898989"/>
              </a:solidFill>
              <a:latin typeface="Calibri" panose="020F0502020204030204" pitchFamily="34" charset="0"/>
            </a:endParaRPr>
          </a:p>
        </p:txBody>
      </p:sp>
      <p:pic>
        <p:nvPicPr>
          <p:cNvPr id="20" name="Picture 11"/>
          <p:cNvPicPr>
            <a:picLocks noChangeAspect="1" noChangeArrowheads="1"/>
          </p:cNvPicPr>
          <p:nvPr/>
        </p:nvPicPr>
        <p:blipFill>
          <a:blip r:embed="rId1"/>
          <a:srcRect/>
          <a:stretch>
            <a:fillRect/>
          </a:stretch>
        </p:blipFill>
        <p:spPr>
          <a:xfrm>
            <a:off x="4628515" y="2584450"/>
            <a:ext cx="3981450" cy="266065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itle 1"/>
          <p:cNvSpPr>
            <a:spLocks noGrp="1"/>
          </p:cNvSpPr>
          <p:nvPr>
            <p:ph type="title"/>
          </p:nvPr>
        </p:nvSpPr>
        <p:spPr/>
        <p:txBody>
          <a:bodyPr vert="horz" wrap="square" lIns="91440" tIns="45720" rIns="91440" bIns="45720" anchor="ctr" anchorCtr="0"/>
          <a:p>
            <a:pPr eaLnBrk="1" hangingPunct="1">
              <a:buNone/>
            </a:pPr>
            <a:r>
              <a:rPr lang="en-IN" altLang="en-US" b="1" dirty="0">
                <a:solidFill>
                  <a:srgbClr val="0070C0"/>
                </a:solidFill>
                <a:latin typeface="Times New Roman" panose="02020603050405020304" pitchFamily="18" charset="0"/>
                <a:cs typeface="Times New Roman" panose="02020603050405020304" pitchFamily="18" charset="0"/>
              </a:rPr>
              <a:t>Testing</a:t>
            </a:r>
            <a:endParaRPr lang="en-IN" altLang="x-none" dirty="0"/>
          </a:p>
        </p:txBody>
      </p:sp>
      <p:sp>
        <p:nvSpPr>
          <p:cNvPr id="25603" name="Content Placeholder 2"/>
          <p:cNvSpPr>
            <a:spLocks noGrp="1"/>
          </p:cNvSpPr>
          <p:nvPr>
            <p:ph idx="1"/>
          </p:nvPr>
        </p:nvSpPr>
        <p:spPr/>
        <p:txBody>
          <a:bodyPr vert="horz" wrap="square" lIns="91440" tIns="45720" rIns="91440" bIns="45720" anchor="t" anchorCtr="0"/>
          <a:p>
            <a:pPr algn="just" eaLnBrk="1" hangingPunct="1">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The proposed system was tested using the US road accident dataset, containing records from February 2016 to June 202</a:t>
            </a:r>
            <a:r>
              <a:rPr lang="en-IN" altLang="en-US" sz="2000"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with data split into 70% for training and 30% for testing to ensure reliable evaluation.</a:t>
            </a:r>
            <a:endParaRPr lang="en-US" altLang="en-US" sz="2000" dirty="0">
              <a:latin typeface="Times New Roman" panose="02020603050405020304" pitchFamily="18" charset="0"/>
              <a:cs typeface="Times New Roman" panose="02020603050405020304" pitchFamily="18" charset="0"/>
            </a:endParaRPr>
          </a:p>
          <a:p>
            <a:pPr algn="just" eaLnBrk="1" hangingPunct="1">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The testing process involved two phases: first using all 48 features, and second using the top 20 significant features identified by Random Forest, which improved both accuracy and computational efficiency.</a:t>
            </a:r>
            <a:endParaRPr lang="en-US" altLang="en-US" sz="2000" dirty="0">
              <a:latin typeface="Times New Roman" panose="02020603050405020304" pitchFamily="18" charset="0"/>
              <a:cs typeface="Times New Roman" panose="02020603050405020304" pitchFamily="18" charset="0"/>
            </a:endParaRPr>
          </a:p>
          <a:p>
            <a:pPr algn="just" eaLnBrk="1" hangingPunct="1">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Key evaluation metrics such as Accuracy, Precision, Recall, and F-score were used to assess the model’s performance, ensuring comprehensive evaluation.</a:t>
            </a:r>
            <a:endParaRPr lang="en-US" altLang="en-US" sz="2000" dirty="0">
              <a:latin typeface="Times New Roman" panose="02020603050405020304" pitchFamily="18" charset="0"/>
              <a:cs typeface="Times New Roman" panose="02020603050405020304" pitchFamily="18" charset="0"/>
            </a:endParaRPr>
          </a:p>
          <a:p>
            <a:pPr algn="just" eaLnBrk="1" hangingPunct="1">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The EFC model’s results were compared against traditional classifiers like Random Forest (RF), AdaBoost (AB), Extra Tree Classifier (ETC), Gradient Boosting Machine (GBM), and Voting Classifier (LR + SGD).</a:t>
            </a:r>
            <a:endParaRPr lang="en-US" altLang="en-US" sz="2000" dirty="0">
              <a:latin typeface="Times New Roman" panose="02020603050405020304" pitchFamily="18" charset="0"/>
              <a:cs typeface="Times New Roman" panose="02020603050405020304" pitchFamily="18" charset="0"/>
            </a:endParaRPr>
          </a:p>
          <a:p>
            <a:pPr eaLnBrk="1" hangingPunct="1"/>
            <a:endParaRPr lang="en-US" altLang="en-US" sz="2000" dirty="0"/>
          </a:p>
          <a:p>
            <a:pPr marL="0" indent="0" eaLnBrk="1" hangingPunct="1">
              <a:buNone/>
            </a:pPr>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p:txBody>
      </p:sp>
      <p:sp>
        <p:nvSpPr>
          <p:cNvPr id="25604"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IN" altLang="en-US" sz="1200" dirty="0">
                <a:solidFill>
                  <a:srgbClr val="898989"/>
                </a:solidFill>
                <a:latin typeface="Calibri" panose="020F0502020204030204" pitchFamily="34" charset="0"/>
              </a:rPr>
            </a:fld>
            <a:endParaRPr lang="en-IN" altLang="en-US" sz="1200" dirty="0">
              <a:solidFill>
                <a:srgbClr val="898989"/>
              </a:solidFill>
              <a:latin typeface="Calibri" panose="020F05020202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itle 1"/>
          <p:cNvSpPr>
            <a:spLocks noGrp="1"/>
          </p:cNvSpPr>
          <p:nvPr>
            <p:ph type="title"/>
          </p:nvPr>
        </p:nvSpPr>
        <p:spPr/>
        <p:txBody>
          <a:bodyPr vert="horz" wrap="square" lIns="91440" tIns="45720" rIns="91440" bIns="45720" anchor="ctr" anchorCtr="0"/>
          <a:p>
            <a:pPr eaLnBrk="1" hangingPunct="1">
              <a:buNone/>
            </a:pPr>
            <a:r>
              <a:rPr lang="en-IN" altLang="en-US" b="1" dirty="0">
                <a:solidFill>
                  <a:srgbClr val="0070C0"/>
                </a:solidFill>
                <a:latin typeface="Times New Roman" panose="02020603050405020304" pitchFamily="18" charset="0"/>
                <a:cs typeface="Times New Roman" panose="02020603050405020304" pitchFamily="18" charset="0"/>
              </a:rPr>
              <a:t>Implementation Code</a:t>
            </a:r>
            <a:endParaRPr lang="en-IN" altLang="x-none" dirty="0"/>
          </a:p>
        </p:txBody>
      </p:sp>
      <p:sp>
        <p:nvSpPr>
          <p:cNvPr id="24579" name="Content Placeholder 2"/>
          <p:cNvSpPr>
            <a:spLocks noGrp="1"/>
          </p:cNvSpPr>
          <p:nvPr>
            <p:ph idx="1"/>
          </p:nvPr>
        </p:nvSpPr>
        <p:spPr>
          <a:xfrm>
            <a:off x="201295" y="1825625"/>
            <a:ext cx="11152505" cy="4765675"/>
          </a:xfrm>
        </p:spPr>
        <p:txBody>
          <a:bodyPr vert="horz" wrap="square" lIns="91440" tIns="45720" rIns="91440" bIns="45720" anchor="t" anchorCtr="0"/>
          <a:p>
            <a:pPr marL="0" indent="0" eaLnBrk="1" hangingPunct="1">
              <a:buNone/>
            </a:pPr>
            <a:r>
              <a:rPr lang="en-US" altLang="en-US" sz="1200" b="1" dirty="0">
                <a:latin typeface="Times New Roman" panose="02020603050405020304" pitchFamily="18" charset="0"/>
                <a:cs typeface="Times New Roman" panose="02020603050405020304" pitchFamily="18" charset="0"/>
              </a:rPr>
              <a:t>from tkinter import *</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from tkinter import filedialog</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main = Tk()</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main.title("RFCNN: Traffic Accident Severity Prediction")</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main.geometry("1300x1200")</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main.config(bg='turquoise')</a:t>
            </a:r>
            <a:r>
              <a:rPr lang="en-IN" altLang="en-US" sz="1200" b="1" dirty="0">
                <a:latin typeface="Times New Roman" panose="02020603050405020304" pitchFamily="18" charset="0"/>
                <a:cs typeface="Times New Roman" panose="02020603050405020304" pitchFamily="18" charset="0"/>
              </a:rPr>
              <a:t>                                                                                                                           </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font = ('times', 16, 'bold')</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Label(main, text='RFCNN: Traffic Accident Severity Prediction', </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   bg='dark goldenrod', fg='white', font=font, height=3, width=120).place(x=0, y=5)</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font1 = ('times', 13, 'bold')</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Button(main, text="Upload Dataset", command=uploadDataset, font=font1).place(x=900, y=100)</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Button(main, text="Feature Extraction", command=featuresExtraction, font=font1).place(x=900, y=200)</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Button(main, text="Split Data", command=splitDataset, font=font1).place(x=900, y=250)Button(main, text="Run Classifiers", command=runAllFeatures, font=font1).place(x=900, y=300)</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Button(main, text="Comparison Graph", command=graph, font=font1).place(x=900, y=400)</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Text(main, height=30, width=100, font=('times', 12)).place(x=10, y=100)</a:t>
            </a:r>
            <a:endParaRPr lang="en-US" altLang="en-US" sz="1200" b="1" dirty="0">
              <a:latin typeface="Times New Roman" panose="02020603050405020304" pitchFamily="18" charset="0"/>
              <a:cs typeface="Times New Roman" panose="02020603050405020304" pitchFamily="18" charset="0"/>
            </a:endParaRPr>
          </a:p>
          <a:p>
            <a:pPr marL="0" indent="0" eaLnBrk="1" hangingPunct="1">
              <a:buNone/>
            </a:pPr>
            <a:r>
              <a:rPr lang="en-US" altLang="en-US" sz="1200" b="1" dirty="0">
                <a:latin typeface="Times New Roman" panose="02020603050405020304" pitchFamily="18" charset="0"/>
                <a:cs typeface="Times New Roman" panose="02020603050405020304" pitchFamily="18" charset="0"/>
              </a:rPr>
              <a:t>main.mainloop()</a:t>
            </a:r>
            <a:endParaRPr lang="en-US" altLang="en-US" sz="1200" b="1" dirty="0">
              <a:latin typeface="Times New Roman" panose="02020603050405020304" pitchFamily="18" charset="0"/>
              <a:cs typeface="Times New Roman" panose="02020603050405020304" pitchFamily="18" charset="0"/>
            </a:endParaRPr>
          </a:p>
          <a:p>
            <a:pPr eaLnBrk="1" hangingPunct="1"/>
            <a:endParaRPr lang="en-US" altLang="en-US" sz="1200" b="1" dirty="0">
              <a:latin typeface="Times New Roman" panose="02020603050405020304" pitchFamily="18" charset="0"/>
              <a:cs typeface="Times New Roman" panose="02020603050405020304" pitchFamily="18" charset="0"/>
            </a:endParaRPr>
          </a:p>
        </p:txBody>
      </p:sp>
      <p:sp>
        <p:nvSpPr>
          <p:cNvPr id="24580"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IN" altLang="en-US" sz="1200" dirty="0">
                <a:solidFill>
                  <a:srgbClr val="898989"/>
                </a:solidFill>
                <a:latin typeface="Calibri" panose="020F0502020204030204" pitchFamily="34" charset="0"/>
              </a:rPr>
            </a:fld>
            <a:endParaRPr lang="en-IN" altLang="en-US" sz="1200" dirty="0">
              <a:solidFill>
                <a:srgbClr val="898989"/>
              </a:solidFill>
              <a:latin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solidFill>
                  <a:srgbClr val="0070C0"/>
                </a:solidFill>
                <a:latin typeface="Times New Roman" panose="02020603050405020304" pitchFamily="18" charset="0"/>
                <a:cs typeface="Times New Roman" panose="02020603050405020304" pitchFamily="18" charset="0"/>
              </a:rPr>
              <a:t>Testing</a:t>
            </a:r>
            <a:endParaRPr lang="en-IN" altLang="en-US" b="1">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pPr eaLnBrk="1" hangingPunct="1">
              <a:buFont typeface="Wingdings" panose="05000000000000000000" charset="0"/>
              <a:buChar char="Ø"/>
            </a:pPr>
            <a:r>
              <a:rPr lang="en-US" altLang="en-US" sz="2400" dirty="0">
                <a:sym typeface="+mn-ea"/>
              </a:rPr>
              <a:t>The EFC model achieved outstanding results with an Accuracy of 0.991, Precision of 0.974, Recall of 0.986, and an F-score of 0.980, outperforming all baseline models.</a:t>
            </a:r>
            <a:endParaRPr lang="en-US" altLang="en-US" sz="2400" dirty="0"/>
          </a:p>
          <a:p>
            <a:pPr eaLnBrk="1" hangingPunct="1">
              <a:buFont typeface="Wingdings" panose="05000000000000000000" charset="0"/>
              <a:buChar char="Ø"/>
            </a:pPr>
            <a:r>
              <a:rPr lang="en-US" altLang="en-US" sz="2400" dirty="0">
                <a:sym typeface="+mn-ea"/>
              </a:rPr>
              <a:t>The model was tested on noisy data to evaluate its robustness and successfully maintained stable performance, proving its resilience against incomplete or inconsistent datasets.</a:t>
            </a:r>
            <a:endParaRPr lang="en-US" altLang="en-US" sz="2400" dirty="0"/>
          </a:p>
          <a:p>
            <a:pPr eaLnBrk="1" hangingPunct="1">
              <a:buFont typeface="Wingdings" panose="05000000000000000000" charset="0"/>
              <a:buChar char="Ø"/>
            </a:pPr>
            <a:r>
              <a:rPr lang="en-US" altLang="en-US" sz="2400" dirty="0">
                <a:sym typeface="+mn-ea"/>
              </a:rPr>
              <a:t>Overall, the EFC model demonstrated superior accuracy, improved prediction stability, and effective handling of real-world traffic data, making it suitable for real-time traffic monitoring and accident severity prediction.</a:t>
            </a:r>
            <a:endParaRPr lang="en-US" altLang="en-US" sz="2400" dirty="0"/>
          </a:p>
          <a:p>
            <a:pPr>
              <a:buFont typeface="Wingdings" panose="05000000000000000000" charset="0"/>
              <a:buChar char="Ø"/>
            </a:pPr>
            <a:endParaRPr lang="en-US"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itle 1"/>
          <p:cNvSpPr>
            <a:spLocks noGrp="1"/>
          </p:cNvSpPr>
          <p:nvPr>
            <p:ph type="title"/>
          </p:nvPr>
        </p:nvSpPr>
        <p:spPr>
          <a:xfrm>
            <a:off x="838200" y="276225"/>
            <a:ext cx="10531475" cy="862013"/>
          </a:xfrm>
        </p:spPr>
        <p:txBody>
          <a:bodyPr vert="horz" wrap="square" lIns="91440" tIns="45720" rIns="91440" bIns="45720" anchor="ctr" anchorCtr="0"/>
          <a:p>
            <a:pPr eaLnBrk="1" hangingPunct="1"/>
            <a:r>
              <a:rPr lang="en-IN" altLang="en-US" sz="4000" b="1" dirty="0">
                <a:solidFill>
                  <a:srgbClr val="0070C0"/>
                </a:solidFill>
                <a:latin typeface="Times New Roman" panose="02020603050405020304" pitchFamily="18" charset="0"/>
                <a:cs typeface="Times New Roman" panose="02020603050405020304" pitchFamily="18" charset="0"/>
              </a:rPr>
              <a:t>Results</a:t>
            </a:r>
            <a:endParaRPr lang="en-US" altLang="en-US" sz="4000" b="1" dirty="0">
              <a:latin typeface="Times New Roman" panose="02020603050405020304" pitchFamily="18" charset="0"/>
              <a:ea typeface="Times New Roman" panose="02020603050405020304" pitchFamily="18" charset="0"/>
            </a:endParaRPr>
          </a:p>
        </p:txBody>
      </p:sp>
      <p:sp>
        <p:nvSpPr>
          <p:cNvPr id="28675" name="Content Placeholder 6"/>
          <p:cNvSpPr>
            <a:spLocks noGrp="1"/>
          </p:cNvSpPr>
          <p:nvPr>
            <p:ph idx="1"/>
          </p:nvPr>
        </p:nvSpPr>
        <p:spPr>
          <a:xfrm>
            <a:off x="0" y="1490345"/>
            <a:ext cx="11869420" cy="5038090"/>
          </a:xfrm>
        </p:spPr>
        <p:txBody>
          <a:bodyPr vert="horz" wrap="square" lIns="91440" tIns="45720" rIns="91440" bIns="45720" anchor="t" anchorCtr="0"/>
          <a:p>
            <a:pPr algn="l" eaLnBrk="1" hangingPunct="1">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In above screen click on ‘Upload US Road Accident Dataset’ button to upload dataset </a:t>
            </a:r>
            <a:r>
              <a:rPr lang="en-IN" altLang="en-US" sz="2000" dirty="0">
                <a:latin typeface="Times New Roman" panose="02020603050405020304" pitchFamily="18" charset="0"/>
                <a:cs typeface="Times New Roman" panose="02020603050405020304" pitchFamily="18" charset="0"/>
              </a:rPr>
              <a:t>g</a:t>
            </a:r>
            <a:r>
              <a:rPr lang="en-US" altLang="en-US" sz="2000" dirty="0">
                <a:latin typeface="Times New Roman" panose="02020603050405020304" pitchFamily="18" charset="0"/>
                <a:cs typeface="Times New Roman" panose="02020603050405020304" pitchFamily="18" charset="0"/>
              </a:rPr>
              <a:t>get below screen</a:t>
            </a:r>
            <a:endParaRPr lang="en-US" altLang="en-US"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4083685" y="1991995"/>
            <a:ext cx="3190240" cy="1793875"/>
          </a:xfrm>
          <a:prstGeom prst="rect">
            <a:avLst/>
          </a:prstGeom>
        </p:spPr>
      </p:pic>
      <p:pic>
        <p:nvPicPr>
          <p:cNvPr id="5" name="Picture 4"/>
          <p:cNvPicPr>
            <a:picLocks noChangeAspect="1"/>
          </p:cNvPicPr>
          <p:nvPr/>
        </p:nvPicPr>
        <p:blipFill>
          <a:blip r:embed="rId2"/>
          <a:stretch>
            <a:fillRect/>
          </a:stretch>
        </p:blipFill>
        <p:spPr>
          <a:xfrm>
            <a:off x="3957955" y="4638675"/>
            <a:ext cx="3124835" cy="1757045"/>
          </a:xfrm>
          <a:prstGeom prst="rect">
            <a:avLst/>
          </a:prstGeom>
        </p:spPr>
      </p:pic>
      <p:sp>
        <p:nvSpPr>
          <p:cNvPr id="6" name="Text Box 5"/>
          <p:cNvSpPr txBox="1"/>
          <p:nvPr/>
        </p:nvSpPr>
        <p:spPr>
          <a:xfrm>
            <a:off x="0" y="3966845"/>
            <a:ext cx="12625070" cy="1218565"/>
          </a:xfrm>
          <a:prstGeom prst="rect">
            <a:avLst/>
          </a:prstGeom>
          <a:noFill/>
        </p:spPr>
        <p:txBody>
          <a:bodyPr wrap="square" rtlCol="0">
            <a:noAutofit/>
          </a:bodyPr>
          <a:p>
            <a:pPr marL="342900" indent="-342900">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In above screen selecting and uploading dataset file and then click on ‘Open’ button to load dataset and get below output</a:t>
            </a: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1"/>
          <p:cNvSpPr>
            <a:spLocks noGrp="1"/>
          </p:cNvSpPr>
          <p:nvPr>
            <p:ph type="title"/>
          </p:nvPr>
        </p:nvSpPr>
        <p:spPr>
          <a:xfrm>
            <a:off x="838200" y="276225"/>
            <a:ext cx="10531475" cy="1103313"/>
          </a:xfrm>
        </p:spPr>
        <p:txBody>
          <a:bodyPr vert="horz" wrap="square" lIns="91440" tIns="45720" rIns="91440" bIns="45720" anchor="ctr" anchorCtr="0"/>
          <a:p>
            <a:pPr eaLnBrk="1" hangingPunct="1"/>
            <a:r>
              <a:rPr lang="en-IN" altLang="en-US" sz="4000" b="1" dirty="0">
                <a:solidFill>
                  <a:srgbClr val="0070C0"/>
                </a:solidFill>
                <a:latin typeface="Times New Roman" panose="02020603050405020304" pitchFamily="18" charset="0"/>
                <a:cs typeface="Times New Roman" panose="02020603050405020304" pitchFamily="18" charset="0"/>
              </a:rPr>
              <a:t>Results</a:t>
            </a:r>
            <a:endParaRPr lang="en-US" altLang="en-US" sz="4000" b="1" dirty="0">
              <a:latin typeface="Times New Roman" panose="02020603050405020304" pitchFamily="18" charset="0"/>
              <a:ea typeface="Times New Roman" panose="02020603050405020304" pitchFamily="18" charset="0"/>
            </a:endParaRPr>
          </a:p>
        </p:txBody>
      </p:sp>
      <p:sp>
        <p:nvSpPr>
          <p:cNvPr id="2" name="Text Box 1"/>
          <p:cNvSpPr txBox="1"/>
          <p:nvPr/>
        </p:nvSpPr>
        <p:spPr>
          <a:xfrm>
            <a:off x="1513205" y="1659890"/>
            <a:ext cx="4845050" cy="925830"/>
          </a:xfrm>
          <a:prstGeom prst="rect">
            <a:avLst/>
          </a:prstGeom>
          <a:noFill/>
        </p:spPr>
        <p:txBody>
          <a:bodyPr wrap="square" rtlCol="0">
            <a:noAutofit/>
          </a:bodyPr>
          <a:p>
            <a:endParaRPr lang="en-US"/>
          </a:p>
        </p:txBody>
      </p:sp>
      <p:sp>
        <p:nvSpPr>
          <p:cNvPr id="6" name="Text Box 5"/>
          <p:cNvSpPr txBox="1"/>
          <p:nvPr/>
        </p:nvSpPr>
        <p:spPr>
          <a:xfrm>
            <a:off x="0" y="1116965"/>
            <a:ext cx="12080875" cy="7621270"/>
          </a:xfrm>
          <a:prstGeom prst="rect">
            <a:avLst/>
          </a:prstGeom>
          <a:noFill/>
        </p:spPr>
        <p:txBody>
          <a:bodyPr wrap="square" rtlCol="0">
            <a:noAutofit/>
          </a:bodyPr>
          <a:p>
            <a:pPr marL="342900" indent="-342900" algn="just">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The dataset initially contains several missing values, shown in the graph where the x-axis represents the count of missing values and the y-axis shows feature names. Clicking the 'Extract Full &amp; Selected Features' button replaces missing values and separates the dataset into full and selected features.</a:t>
            </a:r>
            <a:endParaRPr lang="en-US" altLang="en-US" sz="200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endParaRPr lang="en-US" altLang="en-US" sz="200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endParaRPr lang="en-US" altLang="en-US" sz="200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endParaRPr lang="en-US" altLang="en-US" sz="200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endParaRPr lang="en-US" altLang="en-US" sz="2000">
              <a:latin typeface="Times New Roman" panose="02020603050405020304" pitchFamily="18" charset="0"/>
              <a:cs typeface="Times New Roman" panose="02020603050405020304" pitchFamily="18" charset="0"/>
            </a:endParaRPr>
          </a:p>
          <a:p>
            <a:pPr algn="just">
              <a:buFont typeface="Wingdings" panose="05000000000000000000" charset="0"/>
            </a:pPr>
            <a:endParaRPr lang="en-US" altLang="en-US" sz="200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endParaRPr lang="en-US" altLang="en-US" sz="200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a:latin typeface="Times New Roman" panose="02020603050405020304" pitchFamily="18" charset="0"/>
                <a:cs typeface="Times New Roman" panose="02020603050405020304" pitchFamily="18" charset="0"/>
              </a:rPr>
              <a:t>In above graph x-axis represents algorithm names on full and selected features and y-axis represents accuracy and other metrics in different colour bars and in all we can see selected features algorithm got high performance and now click on ‘Comparison Table’ button to get below output</a:t>
            </a:r>
            <a:endParaRPr lang="en-US" altLang="en-US" sz="200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7852410" y="2023745"/>
            <a:ext cx="2922905" cy="1643380"/>
          </a:xfrm>
          <a:prstGeom prst="rect">
            <a:avLst/>
          </a:prstGeom>
        </p:spPr>
      </p:pic>
      <p:pic>
        <p:nvPicPr>
          <p:cNvPr id="13" name="Picture 11"/>
          <p:cNvPicPr>
            <a:picLocks noChangeAspect="1"/>
          </p:cNvPicPr>
          <p:nvPr/>
        </p:nvPicPr>
        <p:blipFill>
          <a:blip r:embed="rId2"/>
          <a:stretch>
            <a:fillRect/>
          </a:stretch>
        </p:blipFill>
        <p:spPr>
          <a:xfrm>
            <a:off x="8026400" y="4671695"/>
            <a:ext cx="3067050" cy="17246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itle 1"/>
          <p:cNvSpPr>
            <a:spLocks noGrp="1"/>
          </p:cNvSpPr>
          <p:nvPr>
            <p:ph type="title"/>
          </p:nvPr>
        </p:nvSpPr>
        <p:spPr/>
        <p:txBody>
          <a:bodyPr vert="horz" wrap="square" lIns="91440" tIns="45720" rIns="91440" bIns="45720" anchor="ctr" anchorCtr="0"/>
          <a:p>
            <a:pPr eaLnBrk="1" hangingPunct="1">
              <a:buNone/>
            </a:pPr>
            <a:r>
              <a:rPr lang="en-IN" altLang="en-US" b="1" dirty="0">
                <a:solidFill>
                  <a:srgbClr val="0070C0"/>
                </a:solidFill>
                <a:latin typeface="Times New Roman" panose="02020603050405020304" pitchFamily="18" charset="0"/>
                <a:cs typeface="Times New Roman" panose="02020603050405020304" pitchFamily="18" charset="0"/>
              </a:rPr>
              <a:t>Conclusions &amp; Future Enhancement</a:t>
            </a:r>
            <a:endParaRPr lang="en-IN" altLang="x-none" dirty="0"/>
          </a:p>
        </p:txBody>
      </p:sp>
      <p:sp>
        <p:nvSpPr>
          <p:cNvPr id="29699" name="Content Placeholder 2"/>
          <p:cNvSpPr>
            <a:spLocks noGrp="1"/>
          </p:cNvSpPr>
          <p:nvPr>
            <p:ph idx="1"/>
          </p:nvPr>
        </p:nvSpPr>
        <p:spPr/>
        <p:txBody>
          <a:bodyPr vert="horz" wrap="square" lIns="91440" tIns="45720" rIns="91440" bIns="45720" anchor="t" anchorCtr="0"/>
          <a:p>
            <a:pPr algn="just" eaLnBrk="1" hangingPunct="1">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The proposed system effectively predicts traffic accident severity by combining Random Forest (RF) and Convolutional Neural Networks (CNN), achieving high accuracy and reliable results.</a:t>
            </a:r>
            <a:endParaRPr lang="en-US" altLang="en-US" sz="2000" dirty="0">
              <a:latin typeface="Times New Roman" panose="02020603050405020304" pitchFamily="18" charset="0"/>
              <a:cs typeface="Times New Roman" panose="02020603050405020304" pitchFamily="18" charset="0"/>
            </a:endParaRPr>
          </a:p>
          <a:p>
            <a:pPr algn="just" eaLnBrk="1" hangingPunct="1">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By focusing on the top 20 significant features, the model reduces data complexity while maintaining excellent performance.</a:t>
            </a:r>
            <a:endParaRPr lang="en-US" altLang="en-US" sz="2000" dirty="0">
              <a:latin typeface="Times New Roman" panose="02020603050405020304" pitchFamily="18" charset="0"/>
              <a:cs typeface="Times New Roman" panose="02020603050405020304" pitchFamily="18" charset="0"/>
            </a:endParaRPr>
          </a:p>
          <a:p>
            <a:pPr algn="just" eaLnBrk="1" hangingPunct="1">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The system’s ability to handle noisy data and provide real-time predictions makes it suitable for practical deployment in traffic management systems.</a:t>
            </a:r>
            <a:endParaRPr lang="en-US" altLang="en-US" sz="2000" dirty="0">
              <a:latin typeface="Times New Roman" panose="02020603050405020304" pitchFamily="18" charset="0"/>
              <a:cs typeface="Times New Roman" panose="02020603050405020304" pitchFamily="18" charset="0"/>
            </a:endParaRPr>
          </a:p>
          <a:p>
            <a:pPr algn="just" eaLnBrk="1" hangingPunct="1">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The model can be enhanced by integrating real-time sensor data from IoT devices to improve prediction speed and accuracy.</a:t>
            </a:r>
            <a:endParaRPr lang="en-US" altLang="en-US" sz="2000" dirty="0">
              <a:latin typeface="Times New Roman" panose="02020603050405020304" pitchFamily="18" charset="0"/>
              <a:cs typeface="Times New Roman" panose="02020603050405020304" pitchFamily="18" charset="0"/>
            </a:endParaRPr>
          </a:p>
          <a:p>
            <a:pPr algn="just" eaLnBrk="1" hangingPunct="1">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Expanding the dataset to include data from different geographic regions can further improve the model's adaptability and effectiveness in diverse traffic conditions.</a:t>
            </a:r>
            <a:endParaRPr lang="en-US" altLang="en-US" sz="2000" dirty="0">
              <a:latin typeface="Times New Roman" panose="02020603050405020304" pitchFamily="18" charset="0"/>
              <a:cs typeface="Times New Roman" panose="02020603050405020304" pitchFamily="18" charset="0"/>
            </a:endParaRPr>
          </a:p>
        </p:txBody>
      </p:sp>
      <p:sp>
        <p:nvSpPr>
          <p:cNvPr id="29700"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IN" altLang="en-US" sz="1200" dirty="0">
                <a:solidFill>
                  <a:srgbClr val="898989"/>
                </a:solidFill>
                <a:latin typeface="Calibri" panose="020F0502020204030204" pitchFamily="34" charset="0"/>
              </a:rPr>
            </a:fld>
            <a:endParaRPr lang="en-IN" altLang="en-US" sz="1200" dirty="0">
              <a:solidFill>
                <a:srgbClr val="898989"/>
              </a:solidFill>
              <a:latin typeface="Calibri" panose="020F050202020403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itle 1"/>
          <p:cNvSpPr>
            <a:spLocks noGrp="1"/>
          </p:cNvSpPr>
          <p:nvPr>
            <p:ph type="title"/>
          </p:nvPr>
        </p:nvSpPr>
        <p:spPr/>
        <p:txBody>
          <a:bodyPr vert="horz" wrap="square" lIns="91440" tIns="45720" rIns="91440" bIns="45720" anchor="ctr" anchorCtr="0"/>
          <a:p>
            <a:pPr eaLnBrk="1" hangingPunct="1"/>
            <a:r>
              <a:rPr lang="en-IN" altLang="en-US" sz="4000" b="1" dirty="0">
                <a:solidFill>
                  <a:srgbClr val="0070C0"/>
                </a:solidFill>
                <a:latin typeface="Times New Roman" panose="02020603050405020304" pitchFamily="18" charset="0"/>
                <a:cs typeface="Times New Roman" panose="02020603050405020304" pitchFamily="18" charset="0"/>
              </a:rPr>
              <a:t>References</a:t>
            </a:r>
            <a:endParaRPr lang="en-US" altLang="en-US" sz="4000" dirty="0"/>
          </a:p>
        </p:txBody>
      </p:sp>
      <p:graphicFrame>
        <p:nvGraphicFramePr>
          <p:cNvPr id="5" name="Table 6"/>
          <p:cNvGraphicFramePr>
            <a:graphicFrameLocks noGrp="1"/>
          </p:cNvGraphicFramePr>
          <p:nvPr/>
        </p:nvGraphicFramePr>
        <p:xfrm>
          <a:off x="620713" y="1346200"/>
          <a:ext cx="11214100" cy="4916488"/>
        </p:xfrm>
        <a:graphic>
          <a:graphicData uri="http://schemas.openxmlformats.org/drawingml/2006/table">
            <a:tbl>
              <a:tblPr firstRow="1" bandRow="1">
                <a:tableStyleId>{BDBED569-4797-4DF1-A0F4-6AAB3CD982D8}</a:tableStyleId>
              </a:tblPr>
              <a:tblGrid>
                <a:gridCol w="1199380"/>
                <a:gridCol w="10014720"/>
              </a:tblGrid>
              <a:tr h="1620580">
                <a:tc>
                  <a:txBody>
                    <a:bodyPr/>
                    <a:lstStyle/>
                    <a:p>
                      <a:r>
                        <a:rPr lang="en-US" sz="1600" b="0" dirty="0">
                          <a:latin typeface="Calibri" panose="020F0502020204030204" pitchFamily="34" charset="0"/>
                          <a:cs typeface="Calibri" panose="020F0502020204030204" pitchFamily="34" charset="0"/>
                        </a:rPr>
                        <a:t>Paper 1</a:t>
                      </a:r>
                      <a:endParaRPr lang="en-US" sz="1600" b="0" dirty="0">
                        <a:latin typeface="Calibri" panose="020F0502020204030204" pitchFamily="34" charset="0"/>
                        <a:cs typeface="Calibri" panose="020F0502020204030204" pitchFamily="34" charset="0"/>
                      </a:endParaRPr>
                    </a:p>
                  </a:txBody>
                  <a:tcPr marL="91438" marR="91438" marT="45715" marB="45715" anchor="ct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lang="en-IN" sz="1600" b="0" kern="1200" dirty="0">
                        <a:solidFill>
                          <a:schemeClr val="tx1"/>
                        </a:solidFill>
                        <a:effectLst/>
                        <a:latin typeface="Calibri" panose="020F0502020204030204" pitchFamily="34" charset="0"/>
                        <a:ea typeface="+mn-ea"/>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defRPr/>
                      </a:pPr>
                      <a:r>
                        <a:rPr lang="en-US" altLang="en-US" sz="1600" b="0" kern="1200" dirty="0">
                          <a:solidFill>
                            <a:schemeClr val="tx1"/>
                          </a:solidFill>
                          <a:effectLst/>
                          <a:latin typeface="Calibri" panose="020F0502020204030204" pitchFamily="34" charset="0"/>
                          <a:ea typeface="+mn-ea"/>
                          <a:cs typeface="Calibri" panose="020F0502020204030204" pitchFamily="34" charset="0"/>
                        </a:rPr>
                        <a:t>Zhang, Y., Liu, X., and Wang, L., 2021. Real-Time Traffic Accident Severity Prediction Using Machine Learning Techniques. IEEE Access, 9, pp.134256-134267.</a:t>
                      </a:r>
                      <a:endParaRPr lang="en-US" altLang="en-US" sz="1600" b="0" kern="1200" dirty="0">
                        <a:solidFill>
                          <a:schemeClr val="tx1"/>
                        </a:solidFill>
                        <a:effectLst/>
                        <a:latin typeface="Calibri" panose="020F0502020204030204" pitchFamily="34" charset="0"/>
                        <a:ea typeface="+mn-ea"/>
                        <a:cs typeface="Calibri" panose="020F0502020204030204" pitchFamily="34" charset="0"/>
                      </a:endParaRPr>
                    </a:p>
                  </a:txBody>
                  <a:tcPr marL="91438" marR="91438" marT="45715" marB="45715"/>
                </a:tc>
              </a:tr>
              <a:tr h="1620580">
                <a:tc>
                  <a:txBody>
                    <a:bodyPr/>
                    <a:lstStyle/>
                    <a:p>
                      <a:r>
                        <a:rPr lang="en-US" sz="1600" b="0" dirty="0">
                          <a:latin typeface="Calibri" panose="020F0502020204030204" pitchFamily="34" charset="0"/>
                          <a:cs typeface="Calibri" panose="020F0502020204030204" pitchFamily="34" charset="0"/>
                        </a:rPr>
                        <a:t>Paper 2</a:t>
                      </a:r>
                      <a:endParaRPr lang="en-US" sz="1600" b="0" dirty="0">
                        <a:latin typeface="Calibri" panose="020F0502020204030204" pitchFamily="34" charset="0"/>
                        <a:cs typeface="Calibri" panose="020F0502020204030204" pitchFamily="34" charset="0"/>
                      </a:endParaRPr>
                    </a:p>
                  </a:txBody>
                  <a:tcPr marL="91438" marR="91438" marT="45715" marB="45715" anchor="ct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lang="en-IN" sz="1600" b="0" kern="1200" dirty="0">
                        <a:solidFill>
                          <a:schemeClr val="tx1"/>
                        </a:solidFill>
                        <a:effectLst/>
                        <a:latin typeface="Calibri" panose="020F0502020204030204" pitchFamily="34" charset="0"/>
                        <a:ea typeface="+mn-ea"/>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defRPr/>
                      </a:pPr>
                      <a:r>
                        <a:rPr lang="en-US" altLang="en-US" sz="1600" b="0" kern="1200" dirty="0">
                          <a:solidFill>
                            <a:schemeClr val="tx1"/>
                          </a:solidFill>
                          <a:effectLst/>
                          <a:latin typeface="Calibri" panose="020F0502020204030204" pitchFamily="34" charset="0"/>
                          <a:ea typeface="+mn-ea"/>
                          <a:cs typeface="Calibri" panose="020F0502020204030204" pitchFamily="34" charset="0"/>
                        </a:rPr>
                        <a:t>Chen, Z., Wu, X., and Zhang, Y., 2020. Deep Learning-Based Traffic Flow Prediction With Spatio-Temporal Data. Journal of Big Data, 7(1), pp.1-18.</a:t>
                      </a:r>
                      <a:endParaRPr lang="en-US" altLang="en-US" sz="1600" b="0" kern="1200" dirty="0">
                        <a:solidFill>
                          <a:schemeClr val="tx1"/>
                        </a:solidFill>
                        <a:effectLst/>
                        <a:latin typeface="Calibri" panose="020F0502020204030204" pitchFamily="34" charset="0"/>
                        <a:ea typeface="+mn-ea"/>
                        <a:cs typeface="Calibri" panose="020F0502020204030204" pitchFamily="34" charset="0"/>
                      </a:endParaRPr>
                    </a:p>
                  </a:txBody>
                  <a:tcPr marL="91438" marR="91438" marT="45715" marB="45715"/>
                </a:tc>
              </a:tr>
              <a:tr h="1675328">
                <a:tc>
                  <a:txBody>
                    <a:bodyPr/>
                    <a:lstStyle/>
                    <a:p>
                      <a:r>
                        <a:rPr lang="en-US" sz="1600" b="0" dirty="0">
                          <a:latin typeface="Calibri" panose="020F0502020204030204" pitchFamily="34" charset="0"/>
                          <a:cs typeface="Calibri" panose="020F0502020204030204" pitchFamily="34" charset="0"/>
                        </a:rPr>
                        <a:t>Paper 3</a:t>
                      </a:r>
                      <a:endParaRPr lang="en-US" sz="1600" b="0" dirty="0">
                        <a:latin typeface="Calibri" panose="020F0502020204030204" pitchFamily="34" charset="0"/>
                        <a:cs typeface="Calibri" panose="020F0502020204030204" pitchFamily="34" charset="0"/>
                      </a:endParaRPr>
                    </a:p>
                  </a:txBody>
                  <a:tcPr marL="91438" marR="91438" marT="45715" marB="45715" anchor="ct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lang="en-IN" sz="1600" b="0" kern="1200" dirty="0">
                        <a:solidFill>
                          <a:schemeClr val="tx1"/>
                        </a:solidFill>
                        <a:effectLst/>
                        <a:latin typeface="Calibri" panose="020F0502020204030204" pitchFamily="34" charset="0"/>
                        <a:ea typeface="+mn-ea"/>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defRPr/>
                      </a:pPr>
                      <a:r>
                        <a:rPr lang="en-US" altLang="en-US" sz="1600" b="0" kern="1200" dirty="0">
                          <a:solidFill>
                            <a:schemeClr val="tx1"/>
                          </a:solidFill>
                          <a:effectLst/>
                          <a:latin typeface="Calibri" panose="020F0502020204030204" pitchFamily="34" charset="0"/>
                          <a:ea typeface="+mn-ea"/>
                          <a:cs typeface="Calibri" panose="020F0502020204030204" pitchFamily="34" charset="0"/>
                        </a:rPr>
                        <a:t>Gao, J., Lu, Y., and Shi, W., 2022. Accident Severity Prediction Using Hybrid Machine Learning Models. Transportation Research Part C: Emerging Technologies, 134, pp.103485.</a:t>
                      </a:r>
                      <a:r>
                        <a:rPr lang="en-IN" sz="1600" b="0" kern="1200" dirty="0">
                          <a:solidFill>
                            <a:schemeClr val="tx1"/>
                          </a:solidFill>
                          <a:effectLst/>
                          <a:latin typeface="Calibri" panose="020F0502020204030204" pitchFamily="34" charset="0"/>
                          <a:ea typeface="+mn-ea"/>
                          <a:cs typeface="Calibri" panose="020F0502020204030204" pitchFamily="34" charset="0"/>
                        </a:rPr>
                        <a:t>.</a:t>
                      </a:r>
                      <a:endParaRPr lang="en-US" sz="1600" b="0" kern="1200" dirty="0">
                        <a:solidFill>
                          <a:schemeClr val="tx1"/>
                        </a:solidFill>
                        <a:effectLst/>
                        <a:latin typeface="Calibri" panose="020F0502020204030204" pitchFamily="34" charset="0"/>
                        <a:ea typeface="+mn-ea"/>
                        <a:cs typeface="Calibri" panose="020F0502020204030204" pitchFamily="34" charset="0"/>
                      </a:endParaRPr>
                    </a:p>
                    <a:p>
                      <a:endParaRPr lang="en-US" sz="1600" b="0" dirty="0">
                        <a:latin typeface="Calibri" panose="020F0502020204030204" pitchFamily="34" charset="0"/>
                        <a:cs typeface="Calibri" panose="020F0502020204030204" pitchFamily="34" charset="0"/>
                      </a:endParaRPr>
                    </a:p>
                  </a:txBody>
                  <a:tcPr marL="91438" marR="91438" marT="45715" marB="4571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itle 1"/>
          <p:cNvSpPr>
            <a:spLocks noGrp="1"/>
          </p:cNvSpPr>
          <p:nvPr>
            <p:ph type="title"/>
          </p:nvPr>
        </p:nvSpPr>
        <p:spPr>
          <a:xfrm>
            <a:off x="838200" y="258763"/>
            <a:ext cx="10515600" cy="966787"/>
          </a:xfrm>
        </p:spPr>
        <p:txBody>
          <a:bodyPr vert="horz" wrap="square" lIns="91440" tIns="45720" rIns="91440" bIns="45720" anchor="ctr" anchorCtr="0"/>
          <a:p>
            <a:pPr eaLnBrk="1" hangingPunct="1"/>
            <a:r>
              <a:rPr lang="en-IN" altLang="en-US" sz="4000" b="1" dirty="0">
                <a:solidFill>
                  <a:srgbClr val="0070C0"/>
                </a:solidFill>
                <a:latin typeface="Times New Roman" panose="02020603050405020304" pitchFamily="18" charset="0"/>
                <a:cs typeface="Times New Roman" panose="02020603050405020304" pitchFamily="18" charset="0"/>
              </a:rPr>
              <a:t>References</a:t>
            </a:r>
            <a:endParaRPr lang="en-US" altLang="en-US" sz="4000" dirty="0"/>
          </a:p>
        </p:txBody>
      </p:sp>
      <p:graphicFrame>
        <p:nvGraphicFramePr>
          <p:cNvPr id="5" name="Table 6"/>
          <p:cNvGraphicFramePr>
            <a:graphicFrameLocks noGrp="1"/>
          </p:cNvGraphicFramePr>
          <p:nvPr>
            <p:custDataLst>
              <p:tags r:id="rId1"/>
            </p:custDataLst>
          </p:nvPr>
        </p:nvGraphicFramePr>
        <p:xfrm>
          <a:off x="621030" y="1346200"/>
          <a:ext cx="11293475" cy="4837430"/>
        </p:xfrm>
        <a:graphic>
          <a:graphicData uri="http://schemas.openxmlformats.org/drawingml/2006/table">
            <a:tbl>
              <a:tblPr firstRow="1" bandRow="1">
                <a:tableStyleId>{BDBED569-4797-4DF1-A0F4-6AAB3CD982D8}</a:tableStyleId>
              </a:tblPr>
              <a:tblGrid>
                <a:gridCol w="1207770"/>
                <a:gridCol w="10085705"/>
              </a:tblGrid>
              <a:tr h="1594485">
                <a:tc>
                  <a:txBody>
                    <a:bodyPr/>
                    <a:lstStyle/>
                    <a:p>
                      <a:r>
                        <a:rPr lang="en-US" sz="1600" b="0" dirty="0">
                          <a:latin typeface="Calibri" panose="020F0502020204030204" pitchFamily="34" charset="0"/>
                          <a:cs typeface="Calibri" panose="020F0502020204030204" pitchFamily="34" charset="0"/>
                        </a:rPr>
                        <a:t>Paper 4</a:t>
                      </a:r>
                      <a:endParaRPr lang="en-US" sz="1600" b="0" dirty="0">
                        <a:latin typeface="Calibri" panose="020F0502020204030204" pitchFamily="34" charset="0"/>
                        <a:cs typeface="Calibri" panose="020F0502020204030204" pitchFamily="34" charset="0"/>
                      </a:endParaRPr>
                    </a:p>
                  </a:txBody>
                  <a:tcPr marL="91438" marR="91438" marT="45715" marB="45715" anchor="ct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lang="en-IN" sz="1600" b="0" kern="1200" dirty="0">
                        <a:solidFill>
                          <a:schemeClr val="tx1"/>
                        </a:solidFill>
                        <a:effectLst/>
                        <a:latin typeface="Calibri" panose="020F0502020204030204" pitchFamily="34" charset="0"/>
                        <a:ea typeface="+mn-ea"/>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defRPr/>
                      </a:pPr>
                      <a:r>
                        <a:rPr lang="en-US" altLang="en-US" sz="1600" b="0" kern="1200" dirty="0">
                          <a:solidFill>
                            <a:schemeClr val="tx1"/>
                          </a:solidFill>
                          <a:effectLst/>
                          <a:latin typeface="Calibri" panose="020F0502020204030204" pitchFamily="34" charset="0"/>
                          <a:ea typeface="+mn-ea"/>
                          <a:cs typeface="Calibri" panose="020F0502020204030204" pitchFamily="34" charset="0"/>
                        </a:rPr>
                        <a:t>Ali, M., Khan, S., and Farooq, U., 2021. Predictive Analytics for Traffic Incident Severity Using Random Forest and Gradient Boosting. IEEE Transactions on Intelligent Transportation Systems, 22(6), pp.3541-3553.</a:t>
                      </a:r>
                      <a:endParaRPr lang="en-US" altLang="en-US" sz="1600" b="0" kern="1200" dirty="0">
                        <a:solidFill>
                          <a:schemeClr val="tx1"/>
                        </a:solidFill>
                        <a:effectLst/>
                        <a:latin typeface="Calibri" panose="020F0502020204030204" pitchFamily="34" charset="0"/>
                        <a:ea typeface="+mn-ea"/>
                        <a:cs typeface="Calibri" panose="020F0502020204030204" pitchFamily="34" charset="0"/>
                      </a:endParaRPr>
                    </a:p>
                  </a:txBody>
                  <a:tcPr marL="91438" marR="91438" marT="45715" marB="45715"/>
                </a:tc>
              </a:tr>
              <a:tr h="1594485">
                <a:tc>
                  <a:txBody>
                    <a:bodyPr/>
                    <a:lstStyle/>
                    <a:p>
                      <a:r>
                        <a:rPr lang="en-US" sz="1600" b="0" dirty="0">
                          <a:latin typeface="Calibri" panose="020F0502020204030204" pitchFamily="34" charset="0"/>
                          <a:cs typeface="Calibri" panose="020F0502020204030204" pitchFamily="34" charset="0"/>
                        </a:rPr>
                        <a:t>Paper 5</a:t>
                      </a:r>
                      <a:endParaRPr lang="en-US" sz="1600" b="0" dirty="0">
                        <a:latin typeface="Calibri" panose="020F0502020204030204" pitchFamily="34" charset="0"/>
                        <a:cs typeface="Calibri" panose="020F0502020204030204" pitchFamily="34" charset="0"/>
                      </a:endParaRPr>
                    </a:p>
                  </a:txBody>
                  <a:tcPr marL="91438" marR="91438" marT="45715" marB="45715" anchor="ct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lang="en-IN" sz="1600" b="0" kern="1200" dirty="0">
                        <a:solidFill>
                          <a:schemeClr val="tx1"/>
                        </a:solidFill>
                        <a:effectLst/>
                        <a:latin typeface="Calibri" panose="020F0502020204030204" pitchFamily="34" charset="0"/>
                        <a:ea typeface="+mn-ea"/>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defRPr/>
                      </a:pPr>
                      <a:r>
                        <a:rPr lang="en-US" altLang="en-US" sz="1600" b="0" kern="1200" dirty="0">
                          <a:solidFill>
                            <a:schemeClr val="tx1"/>
                          </a:solidFill>
                          <a:effectLst/>
                          <a:latin typeface="Calibri" panose="020F0502020204030204" pitchFamily="34" charset="0"/>
                          <a:ea typeface="+mn-ea"/>
                          <a:cs typeface="Calibri" panose="020F0502020204030204" pitchFamily="34" charset="0"/>
                        </a:rPr>
                        <a:t>Koesdwiady, A., Soua, R., and Karray, F., 2016. Improving Traffic Flow Prediction With Weather Information in Connected Cars: A Deep Learning Approach. IEEE Transactions on Vehicular Technology, 65(12), pp.9508-9517.</a:t>
                      </a:r>
                      <a:endParaRPr lang="en-US" altLang="en-US" sz="1600" b="0" kern="1200" dirty="0">
                        <a:solidFill>
                          <a:schemeClr val="tx1"/>
                        </a:solidFill>
                        <a:effectLst/>
                        <a:latin typeface="Calibri" panose="020F0502020204030204" pitchFamily="34" charset="0"/>
                        <a:ea typeface="+mn-ea"/>
                        <a:cs typeface="Calibri" panose="020F0502020204030204" pitchFamily="34" charset="0"/>
                      </a:endParaRPr>
                    </a:p>
                  </a:txBody>
                  <a:tcPr marL="91438" marR="91438" marT="45715" marB="45715"/>
                </a:tc>
              </a:tr>
              <a:tr h="1648460">
                <a:tc>
                  <a:txBody>
                    <a:bodyPr/>
                    <a:lstStyle/>
                    <a:p>
                      <a:r>
                        <a:rPr lang="en-US" sz="1600" b="0" dirty="0">
                          <a:latin typeface="Calibri" panose="020F0502020204030204" pitchFamily="34" charset="0"/>
                          <a:cs typeface="Calibri" panose="020F0502020204030204" pitchFamily="34" charset="0"/>
                        </a:rPr>
                        <a:t>Paper 6</a:t>
                      </a:r>
                      <a:endParaRPr lang="en-US" sz="1600" b="0" dirty="0">
                        <a:latin typeface="Calibri" panose="020F0502020204030204" pitchFamily="34" charset="0"/>
                        <a:cs typeface="Calibri" panose="020F0502020204030204" pitchFamily="34" charset="0"/>
                      </a:endParaRPr>
                    </a:p>
                  </a:txBody>
                  <a:tcPr marL="91438" marR="91438" marT="45715" marB="45715" anchor="ct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lang="en-IN" sz="1600" b="0" kern="1200" dirty="0">
                        <a:solidFill>
                          <a:schemeClr val="tx1"/>
                        </a:solidFill>
                        <a:effectLst/>
                        <a:latin typeface="Calibri" panose="020F0502020204030204" pitchFamily="34" charset="0"/>
                        <a:ea typeface="+mn-ea"/>
                        <a:cs typeface="Calibri" panose="020F0502020204030204" pitchFamily="34" charset="0"/>
                      </a:endParaRPr>
                    </a:p>
                    <a:p>
                      <a:r>
                        <a:rPr lang="en-US" altLang="en-US" sz="1600" b="0" dirty="0">
                          <a:latin typeface="Calibri" panose="020F0502020204030204" pitchFamily="34" charset="0"/>
                          <a:cs typeface="Calibri" panose="020F0502020204030204" pitchFamily="34" charset="0"/>
                        </a:rPr>
                        <a:t>Huang, C., Zhou, F., and Zhang, J., 2019. A CNN-Based Framework for Traffic Accident Severity Prediction Using Road Network Data. Journal of Intelligent Transportation Systems, 23(3), pp.223-235.</a:t>
                      </a:r>
                      <a:endParaRPr lang="en-US" altLang="en-US" sz="1600" b="0" dirty="0">
                        <a:latin typeface="Calibri" panose="020F0502020204030204" pitchFamily="34" charset="0"/>
                        <a:cs typeface="Calibri" panose="020F0502020204030204" pitchFamily="34" charset="0"/>
                      </a:endParaRPr>
                    </a:p>
                  </a:txBody>
                  <a:tcPr marL="91438" marR="91438" marT="45715" marB="4571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Subtitle 3"/>
          <p:cNvSpPr>
            <a:spLocks noGrp="1"/>
          </p:cNvSpPr>
          <p:nvPr>
            <p:ph type="subTitle" idx="1"/>
          </p:nvPr>
        </p:nvSpPr>
        <p:spPr>
          <a:xfrm>
            <a:off x="1524000" y="2716213"/>
            <a:ext cx="9144000" cy="2654300"/>
          </a:xfrm>
        </p:spPr>
        <p:txBody>
          <a:bodyPr vert="horz" wrap="square" lIns="91440" tIns="45720" rIns="91440" bIns="45720" anchor="t" anchorCtr="0"/>
          <a:p>
            <a:pPr eaLnBrk="1" hangingPunct="1">
              <a:buClrTx/>
              <a:buSzTx/>
            </a:pPr>
            <a:r>
              <a:rPr lang="en-IN" altLang="en-US" sz="6000" kern="1200" dirty="0">
                <a:latin typeface="Times New Roman" panose="02020603050405020304" pitchFamily="18" charset="0"/>
                <a:ea typeface="+mn-ea"/>
                <a:cs typeface="Times New Roman" panose="02020603050405020304" pitchFamily="18" charset="0"/>
              </a:rPr>
              <a:t>Thank You </a:t>
            </a:r>
            <a:endParaRPr lang="en-IN" altLang="en-US" sz="6000" kern="1200" dirty="0">
              <a:latin typeface="Times New Roman" panose="02020603050405020304" pitchFamily="18" charset="0"/>
              <a:ea typeface="+mn-ea"/>
              <a:cs typeface="Times New Roman" panose="02020603050405020304" pitchFamily="18" charset="0"/>
            </a:endParaRPr>
          </a:p>
          <a:p>
            <a:pPr eaLnBrk="1" hangingPunct="1">
              <a:buClrTx/>
              <a:buSzTx/>
            </a:pPr>
            <a:r>
              <a:rPr lang="en-IN" altLang="en-US" sz="6000" kern="1200" dirty="0">
                <a:latin typeface="Times New Roman" panose="02020603050405020304" pitchFamily="18" charset="0"/>
                <a:ea typeface="+mn-ea"/>
                <a:cs typeface="Times New Roman" panose="02020603050405020304" pitchFamily="18" charset="0"/>
              </a:rPr>
              <a:t>Any Queries/Suggestions? </a:t>
            </a:r>
            <a:endParaRPr lang="en-IN" altLang="en-US" sz="6000" kern="1200" dirty="0">
              <a:latin typeface="Times New Roman" panose="02020603050405020304" pitchFamily="18" charset="0"/>
              <a:ea typeface="+mn-ea"/>
              <a:cs typeface="Times New Roman" panose="02020603050405020304" pitchFamily="18" charset="0"/>
            </a:endParaRPr>
          </a:p>
          <a:p>
            <a:pPr eaLnBrk="1" hangingPunct="1">
              <a:buClrTx/>
              <a:buSzTx/>
            </a:pPr>
            <a:endParaRPr lang="en-IN" altLang="en-US" sz="6000" kern="1200" dirty="0">
              <a:latin typeface="Times New Roman" panose="02020603050405020304" pitchFamily="18" charset="0"/>
              <a:ea typeface="+mn-ea"/>
              <a:cs typeface="Times New Roman" panose="02020603050405020304" pitchFamily="18" charset="0"/>
            </a:endParaRPr>
          </a:p>
          <a:p>
            <a:pPr eaLnBrk="1" hangingPunct="1">
              <a:buClrTx/>
              <a:buSzTx/>
            </a:pPr>
            <a:endParaRPr lang="en-IN" altLang="en-US" sz="6000" kern="1200" dirty="0">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tags/tag1.xml><?xml version="1.0" encoding="utf-8"?>
<p:tagLst xmlns:p="http://schemas.openxmlformats.org/presentationml/2006/main">
  <p:tag name="TABLE_ENDDRAG_ORIGIN_RECT" val="889*380"/>
  <p:tag name="TABLE_ENDDRAG_RECT" val="48*106*889*38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13519</Words>
  <Application>WPS Presentation</Application>
  <PresentationFormat>Widescreen</PresentationFormat>
  <Paragraphs>378</Paragraphs>
  <Slides>27</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27</vt:i4>
      </vt:variant>
    </vt:vector>
  </HeadingPairs>
  <TitlesOfParts>
    <vt:vector size="40" baseType="lpstr">
      <vt:lpstr>Arial</vt:lpstr>
      <vt:lpstr>SimSun</vt:lpstr>
      <vt:lpstr>Wingdings</vt:lpstr>
      <vt:lpstr>Calibri</vt:lpstr>
      <vt:lpstr>Calibri Light</vt:lpstr>
      <vt:lpstr>Times New Roman</vt:lpstr>
      <vt:lpstr>Aptos Display</vt:lpstr>
      <vt:lpstr>Segoe Print</vt:lpstr>
      <vt:lpstr>Wingdings</vt:lpstr>
      <vt:lpstr>Calibri</vt:lpstr>
      <vt:lpstr>Microsoft YaHei</vt:lpstr>
      <vt:lpstr>Arial Unicode MS</vt:lpstr>
      <vt:lpstr>Office Theme</vt:lpstr>
      <vt:lpstr>PowerPoint 演示文稿</vt:lpstr>
      <vt:lpstr>Outline</vt:lpstr>
      <vt:lpstr>Introduction</vt:lpstr>
      <vt:lpstr>PowerPoint 演示文稿</vt:lpstr>
      <vt:lpstr>PowerPoint 演示文稿</vt:lpstr>
      <vt:lpstr>PowerPoint 演示文稿</vt:lpstr>
      <vt:lpstr>Literature Survey</vt:lpstr>
      <vt:lpstr>                      Literature Survey</vt:lpstr>
      <vt:lpstr>                    Literature Survey</vt:lpstr>
      <vt:lpstr>Existing System</vt:lpstr>
      <vt:lpstr> Objectives of Proposed System </vt:lpstr>
      <vt:lpstr> Objectives of Proposed System </vt:lpstr>
      <vt:lpstr>Software &amp; Hardware Requirements</vt:lpstr>
      <vt:lpstr> Block Diagram of Proposal </vt:lpstr>
      <vt:lpstr>UML Diagrams</vt:lpstr>
      <vt:lpstr>UML Diagrams</vt:lpstr>
      <vt:lpstr>UML Diagrams</vt:lpstr>
      <vt:lpstr>UML Diagrams</vt:lpstr>
      <vt:lpstr>Testing</vt:lpstr>
      <vt:lpstr>Implementation Code</vt:lpstr>
      <vt:lpstr>Testing</vt:lpstr>
      <vt:lpstr>Results</vt:lpstr>
      <vt:lpstr>Results</vt:lpstr>
      <vt:lpstr>Conclusions &amp; Future Enhancement</vt:lpstr>
      <vt:lpstr>References</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Comprehensive Examination</dc:title>
  <dc:creator>Prateek Prakash</dc:creator>
  <cp:lastModifiedBy>ampally shruthi</cp:lastModifiedBy>
  <cp:revision>459</cp:revision>
  <dcterms:created xsi:type="dcterms:W3CDTF">2020-07-26T14:02:00Z</dcterms:created>
  <dcterms:modified xsi:type="dcterms:W3CDTF">2025-03-11T15:03:01Z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C8BB3B15A88C483390303E5274DDD020_13</vt:lpwstr>
  </property>
  <property fmtid="{D5CDD505-2E9C-101B-9397-08002B2CF9AE}" pid="3" name="KSOProductBuildVer">
    <vt:lpwstr>1033-12.2.0.19805</vt:lpwstr>
  </property>
</Properties>
</file>